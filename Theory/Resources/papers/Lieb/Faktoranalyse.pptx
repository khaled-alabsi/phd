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306" r:id="rId2"/>
    <p:sldId id="307" r:id="rId3"/>
    <p:sldId id="257" r:id="rId4"/>
    <p:sldId id="266" r:id="rId5"/>
    <p:sldId id="308" r:id="rId6"/>
    <p:sldId id="267" r:id="rId7"/>
    <p:sldId id="276" r:id="rId8"/>
    <p:sldId id="311" r:id="rId9"/>
    <p:sldId id="268" r:id="rId10"/>
    <p:sldId id="310" r:id="rId11"/>
    <p:sldId id="273" r:id="rId12"/>
    <p:sldId id="269" r:id="rId13"/>
    <p:sldId id="270" r:id="rId14"/>
    <p:sldId id="271" r:id="rId15"/>
    <p:sldId id="309" r:id="rId16"/>
    <p:sldId id="272" r:id="rId17"/>
    <p:sldId id="262" r:id="rId18"/>
    <p:sldId id="263" r:id="rId19"/>
    <p:sldId id="275" r:id="rId20"/>
    <p:sldId id="312" r:id="rId21"/>
    <p:sldId id="274" r:id="rId22"/>
    <p:sldId id="264" r:id="rId23"/>
    <p:sldId id="265" r:id="rId24"/>
    <p:sldId id="31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33"/>
    <a:srgbClr val="0033CC"/>
    <a:srgbClr val="FF3399"/>
    <a:srgbClr val="FF0000"/>
    <a:srgbClr val="CC0000"/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512" y="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91B07-A661-4AD8-A7D6-27BB24E3A39B}" type="slidenum">
              <a:rPr lang="de-DE" altLang="de-DE" smtClean="0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9279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A6E81-9043-47EC-B21D-4BDAF6E93983}" type="slidenum">
              <a:rPr lang="de-DE" altLang="de-DE" smtClean="0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586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6BDA-3298-43AD-9C84-CB1487A04D46}" type="slidenum">
              <a:rPr lang="de-DE" altLang="de-DE" smtClean="0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4721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E7858-DB55-42FF-A62C-55D778907149}" type="slidenum">
              <a:rPr lang="de-DE" altLang="de-DE" smtClean="0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70309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827D8-2AF8-4D5F-9868-145026205250}" type="slidenum">
              <a:rPr lang="de-DE" altLang="de-DE" smtClean="0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5548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99494-C51E-41F7-8B41-7A8BC66086C7}" type="slidenum">
              <a:rPr lang="de-DE" altLang="de-DE" smtClean="0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693662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392EE-5779-4677-B245-DEF5115B0399}" type="slidenum">
              <a:rPr lang="de-DE" altLang="de-DE" smtClean="0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53082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7D094-EDF8-4D6D-A561-BEE9A9CE22CC}" type="slidenum">
              <a:rPr lang="de-DE" altLang="de-DE" smtClean="0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236543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5B7A7-82EC-41F1-8FD7-00804B4E87DF}" type="slidenum">
              <a:rPr lang="de-DE" altLang="de-DE" smtClean="0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550114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FCAB2-45F1-4A3F-BB74-C7CD8514280D}" type="slidenum">
              <a:rPr lang="de-DE" altLang="de-DE" smtClean="0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90530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alt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01511-2E9F-4CD0-8727-13344BF87896}" type="slidenum">
              <a:rPr lang="de-DE" altLang="de-DE" smtClean="0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4027629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1DD4F9-6FB1-4D64-81B9-51BFE9C9D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abellenplatzhalter 2">
            <a:extLst>
              <a:ext uri="{FF2B5EF4-FFF2-40B4-BE49-F238E27FC236}">
                <a16:creationId xmlns:a16="http://schemas.microsoft.com/office/drawing/2014/main" id="{7DE4F066-FFCC-4444-9887-57F319344A81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09DA56-3000-4D8C-92B1-2DE75154E4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8777AD-6790-477A-AF9C-D712F5E03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de-DE" alt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C4BE34-49FF-4740-9957-A1E2197D7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D34DC913-BB7D-47B1-94F9-7BA4D3E41EA9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004739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alt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alt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CFA5D-356D-482A-AA2D-221BCF42D6C4}" type="slidenum">
              <a:rPr lang="de-DE" altLang="de-DE" smtClean="0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276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20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6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8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714202"/>
          </a:xfrm>
        </p:spPr>
        <p:txBody>
          <a:bodyPr/>
          <a:lstStyle/>
          <a:p>
            <a:pPr algn="l"/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9. Faktoranalyse</a:t>
            </a:r>
          </a:p>
        </p:txBody>
      </p:sp>
    </p:spTree>
    <p:extLst>
      <p:ext uri="{BB962C8B-B14F-4D97-AF65-F5344CB8AC3E}">
        <p14:creationId xmlns:p14="http://schemas.microsoft.com/office/powerpoint/2010/main" val="2161992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88644"/>
            <a:ext cx="8229600" cy="704672"/>
          </a:xfrm>
          <a:noFill/>
        </p:spPr>
        <p:txBody>
          <a:bodyPr/>
          <a:lstStyle/>
          <a:p>
            <a:pPr algn="ctr" eaLnBrk="1" hangingPunct="1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 </a:t>
            </a:r>
          </a:p>
        </p:txBody>
      </p:sp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1271463" y="980728"/>
            <a:ext cx="5905191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de-DE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Zufallsvektor</a:t>
            </a:r>
          </a:p>
          <a:p>
            <a:pPr>
              <a:spcBef>
                <a:spcPct val="0"/>
              </a:spcBef>
              <a:buFontTx/>
              <a:buNone/>
            </a:pPr>
            <a:endParaRPr lang="de-DE" sz="2400" dirty="0">
              <a:solidFill>
                <a:srgbClr val="3399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de-DE" sz="2400" b="0" i="0" dirty="0">
                <a:solidFill>
                  <a:srgbClr val="3399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Ziel:</a:t>
            </a:r>
            <a:r>
              <a:rPr lang="de-DE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Beschreiben der Beziehungen der </a:t>
            </a:r>
            <a:r>
              <a:rPr lang="de-DE" sz="24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de-DE" sz="2400" b="0" i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de-DE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untereinander auf der Grundlage der Kovarianzmatrix von     . Die </a:t>
            </a:r>
            <a:r>
              <a:rPr lang="de-DE" sz="24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de-DE" sz="2400" b="0" i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de-DE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werden als lineare Funktion einiger weniger zufälliger nicht beobachtbarer Faktoren (</a:t>
            </a:r>
            <a:r>
              <a:rPr lang="de-DE" sz="2400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Zufallsgrö-ßen</a:t>
            </a:r>
            <a:r>
              <a:rPr lang="de-DE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näherungsweise dargestellt.</a:t>
            </a:r>
          </a:p>
          <a:p>
            <a:pPr>
              <a:spcBef>
                <a:spcPct val="0"/>
              </a:spcBef>
              <a:buFontTx/>
              <a:buNone/>
            </a:pPr>
            <a:br>
              <a:rPr lang="de-DE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b="0" i="0" dirty="0">
                <a:solidFill>
                  <a:srgbClr val="3399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Realisierung in zwei Schritten:</a:t>
            </a:r>
            <a:br>
              <a:rPr lang="de-DE" sz="2400" b="0" i="0" dirty="0">
                <a:solidFill>
                  <a:srgbClr val="3399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1) Erstellung der Faktorladungsmatrix.</a:t>
            </a:r>
            <a:br>
              <a:rPr lang="de-DE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2) Faktorenwerte der Objekte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de-DE" altLang="de-DE" sz="2400" dirty="0">
                <a:latin typeface="Arial" panose="020B0604020202020204" pitchFamily="34" charset="0"/>
                <a:cs typeface="Arial" panose="020B0604020202020204" pitchFamily="34" charset="0"/>
              </a:rPr>
              <a:t>hier Hauptkomponentenmethode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A815F00-8C61-471F-AD2B-DA5D80E5C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914" y="962255"/>
            <a:ext cx="2891432" cy="43744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8DDED5E-2E20-4CC1-93BD-8237C62D1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450" y="2449330"/>
            <a:ext cx="282741" cy="36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992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Text Box 5">
            <a:extLst>
              <a:ext uri="{FF2B5EF4-FFF2-40B4-BE49-F238E27FC236}">
                <a16:creationId xmlns:a16="http://schemas.microsoft.com/office/drawing/2014/main" id="{D966674A-A066-4B59-8665-2A7F9D0C0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981075"/>
            <a:ext cx="5892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de-DE" altLang="de-DE" sz="2400" b="1">
                <a:latin typeface="Times New Roman" panose="02020603050405020304" pitchFamily="18" charset="0"/>
              </a:rPr>
              <a:t>Problem:</a:t>
            </a:r>
            <a:r>
              <a:rPr lang="de-DE" altLang="de-DE" sz="2400">
                <a:latin typeface="Times New Roman" panose="02020603050405020304" pitchFamily="18" charset="0"/>
              </a:rPr>
              <a:t> Reduktion der Dimension der Daten</a:t>
            </a:r>
          </a:p>
        </p:txBody>
      </p:sp>
      <p:sp>
        <p:nvSpPr>
          <p:cNvPr id="3081" name="Text Box 9">
            <a:extLst>
              <a:ext uri="{FF2B5EF4-FFF2-40B4-BE49-F238E27FC236}">
                <a16:creationId xmlns:a16="http://schemas.microsoft.com/office/drawing/2014/main" id="{6A63A4BC-F30A-41ED-8F8F-E8A84A19F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475" y="2997201"/>
            <a:ext cx="2730500" cy="466725"/>
          </a:xfrm>
          <a:prstGeom prst="rect">
            <a:avLst/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de-DE" altLang="de-DE" sz="2400">
                <a:latin typeface="Times New Roman" panose="02020603050405020304" pitchFamily="18" charset="0"/>
              </a:rPr>
              <a:t>Faktorladungsmatrix</a:t>
            </a:r>
          </a:p>
        </p:txBody>
      </p:sp>
      <p:sp>
        <p:nvSpPr>
          <p:cNvPr id="3082" name="Line 10">
            <a:extLst>
              <a:ext uri="{FF2B5EF4-FFF2-40B4-BE49-F238E27FC236}">
                <a16:creationId xmlns:a16="http://schemas.microsoft.com/office/drawing/2014/main" id="{730CDDD8-B2A4-4CB5-855A-DE09F4E8097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2465389"/>
            <a:ext cx="0" cy="504825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83" name="Text Box 11">
            <a:extLst>
              <a:ext uri="{FF2B5EF4-FFF2-40B4-BE49-F238E27FC236}">
                <a16:creationId xmlns:a16="http://schemas.microsoft.com/office/drawing/2014/main" id="{90FB9365-A83C-4599-B8B7-870AF5897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3838" y="5084764"/>
            <a:ext cx="1751012" cy="466725"/>
          </a:xfrm>
          <a:prstGeom prst="rect">
            <a:avLst/>
          </a:prstGeom>
          <a:solidFill>
            <a:srgbClr val="FFCCCC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de-DE" altLang="de-DE" sz="2400">
                <a:latin typeface="Times New Roman" panose="02020603050405020304" pitchFamily="18" charset="0"/>
              </a:rPr>
              <a:t>Faktorscores</a:t>
            </a:r>
          </a:p>
        </p:txBody>
      </p:sp>
      <p:sp>
        <p:nvSpPr>
          <p:cNvPr id="3084" name="Line 12">
            <a:extLst>
              <a:ext uri="{FF2B5EF4-FFF2-40B4-BE49-F238E27FC236}">
                <a16:creationId xmlns:a16="http://schemas.microsoft.com/office/drawing/2014/main" id="{1E267679-B7E8-44BD-9BE6-16909BD009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4405313"/>
            <a:ext cx="0" cy="647700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85" name="Text Box 13">
            <a:extLst>
              <a:ext uri="{FF2B5EF4-FFF2-40B4-BE49-F238E27FC236}">
                <a16:creationId xmlns:a16="http://schemas.microsoft.com/office/drawing/2014/main" id="{A236DFD1-2477-429E-8400-8E339C113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026" y="5013325"/>
            <a:ext cx="1825625" cy="83185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de-DE" altLang="de-DE" sz="2400">
                <a:latin typeface="Times New Roman" panose="02020603050405020304" pitchFamily="18" charset="0"/>
              </a:rPr>
              <a:t>Faktorwerte der Objekte</a:t>
            </a:r>
          </a:p>
        </p:txBody>
      </p:sp>
      <p:sp>
        <p:nvSpPr>
          <p:cNvPr id="3086" name="Rectangle 14">
            <a:extLst>
              <a:ext uri="{FF2B5EF4-FFF2-40B4-BE49-F238E27FC236}">
                <a16:creationId xmlns:a16="http://schemas.microsoft.com/office/drawing/2014/main" id="{B19222BB-ADB1-454A-813C-158128C90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8350" y="2209800"/>
            <a:ext cx="457200" cy="5334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de-DE" altLang="de-DE" sz="240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3087" name="Rectangle 15">
            <a:extLst>
              <a:ext uri="{FF2B5EF4-FFF2-40B4-BE49-F238E27FC236}">
                <a16:creationId xmlns:a16="http://schemas.microsoft.com/office/drawing/2014/main" id="{F9C7B981-A204-4594-BA55-88B11EDD2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5013325"/>
            <a:ext cx="533400" cy="4572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de-DE" altLang="de-DE" sz="2400">
                <a:latin typeface="Times New Roman" panose="02020603050405020304" pitchFamily="18" charset="0"/>
              </a:rPr>
              <a:t>II</a:t>
            </a:r>
          </a:p>
        </p:txBody>
      </p:sp>
      <p:sp>
        <p:nvSpPr>
          <p:cNvPr id="3089" name="Line 17">
            <a:extLst>
              <a:ext uri="{FF2B5EF4-FFF2-40B4-BE49-F238E27FC236}">
                <a16:creationId xmlns:a16="http://schemas.microsoft.com/office/drawing/2014/main" id="{89E03BA9-F2BC-4204-8987-F17098BE76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463925"/>
            <a:ext cx="0" cy="43180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3075" name="Text Box 3">
            <a:extLst>
              <a:ext uri="{FF2B5EF4-FFF2-40B4-BE49-F238E27FC236}">
                <a16:creationId xmlns:a16="http://schemas.microsoft.com/office/drawing/2014/main" id="{5E50E679-68AA-4A70-850C-ED930C187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1" y="1628775"/>
            <a:ext cx="2663825" cy="831850"/>
          </a:xfrm>
          <a:prstGeom prst="rect">
            <a:avLst/>
          </a:prstGeom>
          <a:solidFill>
            <a:srgbClr val="FF99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de-DE" altLang="de-DE" sz="2400" b="1">
                <a:latin typeface="Times New Roman" panose="02020603050405020304" pitchFamily="18" charset="0"/>
              </a:rPr>
              <a:t>Daten:</a:t>
            </a:r>
            <a:endParaRPr lang="de-DE" altLang="de-DE" sz="2400">
              <a:latin typeface="Times New Roman" panose="02020603050405020304" pitchFamily="18" charset="0"/>
            </a:endParaRPr>
          </a:p>
          <a:p>
            <a:pPr eaLnBrk="0" hangingPunct="0"/>
            <a:r>
              <a:rPr lang="de-DE" altLang="de-DE" sz="2400">
                <a:latin typeface="Times New Roman" panose="02020603050405020304" pitchFamily="18" charset="0"/>
              </a:rPr>
              <a:t>Merkmalsvektoren</a:t>
            </a:r>
          </a:p>
        </p:txBody>
      </p:sp>
      <p:sp>
        <p:nvSpPr>
          <p:cNvPr id="3090" name="Text Box 18">
            <a:extLst>
              <a:ext uri="{FF2B5EF4-FFF2-40B4-BE49-F238E27FC236}">
                <a16:creationId xmlns:a16="http://schemas.microsoft.com/office/drawing/2014/main" id="{5FDF2BF5-665B-4070-B3FA-7A8D9D75F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9" y="3933826"/>
            <a:ext cx="3322637" cy="466725"/>
          </a:xfrm>
          <a:prstGeom prst="rect">
            <a:avLst/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de-DE" altLang="de-DE" sz="2400">
                <a:latin typeface="Times New Roman" panose="02020603050405020304" pitchFamily="18" charset="0"/>
              </a:rPr>
              <a:t>Rot. Faktorladungsmatrix</a:t>
            </a:r>
          </a:p>
        </p:txBody>
      </p:sp>
      <p:sp>
        <p:nvSpPr>
          <p:cNvPr id="3091" name="Text Box 19">
            <a:extLst>
              <a:ext uri="{FF2B5EF4-FFF2-40B4-BE49-F238E27FC236}">
                <a16:creationId xmlns:a16="http://schemas.microsoft.com/office/drawing/2014/main" id="{1E944FED-6796-44DA-A7C7-BC4254AB6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800" y="3500438"/>
            <a:ext cx="2457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de-DE" altLang="de-DE">
                <a:solidFill>
                  <a:srgbClr val="D60093"/>
                </a:solidFill>
              </a:rPr>
              <a:t>Rotation z.B. Varimax</a:t>
            </a:r>
            <a:r>
              <a:rPr lang="de-DE" altLang="de-DE"/>
              <a:t> </a:t>
            </a:r>
          </a:p>
        </p:txBody>
      </p:sp>
      <p:sp>
        <p:nvSpPr>
          <p:cNvPr id="3092" name="Line 20">
            <a:extLst>
              <a:ext uri="{FF2B5EF4-FFF2-40B4-BE49-F238E27FC236}">
                <a16:creationId xmlns:a16="http://schemas.microsoft.com/office/drawing/2014/main" id="{A2F1DFC2-52FE-47F3-ACB0-6F18EDB245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32625" y="5373688"/>
            <a:ext cx="1295400" cy="0"/>
          </a:xfrm>
          <a:prstGeom prst="line">
            <a:avLst/>
          </a:prstGeom>
          <a:noFill/>
          <a:ln w="444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025170C3-5353-489D-A4AD-8E40EF9F15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4953000"/>
            <a:ext cx="815340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>
              <a:latin typeface="+mn-lt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7B18267C-AFFC-47D5-BA99-6F9AB4EDAC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8644"/>
            <a:ext cx="8229600" cy="704672"/>
          </a:xfrm>
          <a:noFill/>
        </p:spPr>
        <p:txBody>
          <a:bodyPr/>
          <a:lstStyle/>
          <a:p>
            <a:pPr algn="ctr" eaLnBrk="1" hangingPunct="1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1922D06-8E14-476A-A8A0-829F0EFB982C}"/>
              </a:ext>
            </a:extLst>
          </p:cNvPr>
          <p:cNvSpPr txBox="1"/>
          <p:nvPr/>
        </p:nvSpPr>
        <p:spPr>
          <a:xfrm>
            <a:off x="1415480" y="836712"/>
            <a:ext cx="7848872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Modell der Faktoranalyse:</a:t>
            </a:r>
          </a:p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für </a:t>
            </a:r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i=1...p</a:t>
            </a:r>
          </a:p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                    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zufällige gemeinsame Faktoren,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zufällige spezifische Faktoren (Fehler), 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unabhängige Zufallsgrößen mit</a:t>
            </a: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  <a:r>
              <a:rPr lang="de-DE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Matrix der Faktorladungen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de-DE" sz="24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ij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Faktorladung der Variable </a:t>
            </a:r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bezüglich des Faktors </a:t>
            </a:r>
            <a:r>
              <a:rPr lang="de-DE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DE" sz="24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it-IT" sz="2400" dirty="0" err="1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spezifische</a:t>
            </a:r>
            <a:r>
              <a:rPr lang="it-IT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Varianzen</a:t>
            </a:r>
            <a:r>
              <a:rPr lang="it-IT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i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it-IT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m&lt;p  </a:t>
            </a:r>
            <a:r>
              <a:rPr lang="de-DE" sz="2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Dimensionsreduktion</a:t>
            </a:r>
            <a:endParaRPr lang="de-DE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D76AD72-27A3-4DF9-AB43-95DA6A329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85" y="1388474"/>
            <a:ext cx="4325112" cy="89306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B7A6D88-8064-48F2-8BE2-94390B290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239" y="2652814"/>
            <a:ext cx="1274064" cy="27736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8778753-C2BD-45B3-8DE7-D26BA85CA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871" y="3058735"/>
            <a:ext cx="1106424" cy="27432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BFEBFAF-A3D9-41AB-802D-EB8F867FAE8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" r="629" b="55379"/>
          <a:stretch/>
        </p:blipFill>
        <p:spPr>
          <a:xfrm>
            <a:off x="2135560" y="3903534"/>
            <a:ext cx="5935195" cy="37843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C29FF95-7967-46D3-9A3F-E73440A8B5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9287" y="4609354"/>
            <a:ext cx="1152144" cy="288036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C630DCEE-60A7-4C58-8072-4C87EDF155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8644"/>
            <a:ext cx="8229600" cy="704672"/>
          </a:xfrm>
          <a:noFill/>
        </p:spPr>
        <p:txBody>
          <a:bodyPr/>
          <a:lstStyle/>
          <a:p>
            <a:pPr algn="ctr" eaLnBrk="1" hangingPunct="1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 </a:t>
            </a:r>
          </a:p>
        </p:txBody>
      </p:sp>
    </p:spTree>
    <p:extLst>
      <p:ext uri="{BB962C8B-B14F-4D97-AF65-F5344CB8AC3E}">
        <p14:creationId xmlns:p14="http://schemas.microsoft.com/office/powerpoint/2010/main" val="803538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1922D06-8E14-476A-A8A0-829F0EFB982C}"/>
              </a:ext>
            </a:extLst>
          </p:cNvPr>
          <p:cNvSpPr txBox="1"/>
          <p:nvPr/>
        </p:nvSpPr>
        <p:spPr>
          <a:xfrm>
            <a:off x="1415480" y="836712"/>
            <a:ext cx="7848872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lineares Modell zur Beschreibung der Grundgesamtheit  </a:t>
            </a:r>
          </a:p>
          <a:p>
            <a:r>
              <a:rPr lang="de-DE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Modell der Faktoranalyse:</a:t>
            </a:r>
          </a:p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für </a:t>
            </a:r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i=1...p</a:t>
            </a:r>
          </a:p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                    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zufällige gemeinsame Faktoren,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zufällige spezifische Faktoren (Fehler), </a:t>
            </a:r>
            <a:r>
              <a:rPr lang="de-DE" sz="2400" dirty="0" err="1">
                <a:latin typeface="Arial" panose="020B0604020202020204" pitchFamily="34" charset="0"/>
                <a:cs typeface="Arial" panose="020B0604020202020204" pitchFamily="34" charset="0"/>
              </a:rPr>
              <a:t>unabh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Matrix der Faktorladungen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D76AD72-27A3-4DF9-AB43-95DA6A329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85" y="1758640"/>
            <a:ext cx="4325112" cy="89306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B7A6D88-8064-48F2-8BE2-94390B290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915" y="3009891"/>
            <a:ext cx="1274064" cy="27736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8778753-C2BD-45B3-8DE7-D26BA85CA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679" y="3421278"/>
            <a:ext cx="1106424" cy="27432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BFEBFAF-A3D9-41AB-802D-EB8F867FAE8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805" b="48585"/>
          <a:stretch/>
        </p:blipFill>
        <p:spPr>
          <a:xfrm>
            <a:off x="2259555" y="3788913"/>
            <a:ext cx="5924678" cy="43605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C29FF95-7967-46D3-9A3F-E73440A8B5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2239" y="4464332"/>
            <a:ext cx="1152144" cy="288036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C630DCEE-60A7-4C58-8072-4C87EDF155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8644"/>
            <a:ext cx="8229600" cy="704672"/>
          </a:xfrm>
          <a:noFill/>
        </p:spPr>
        <p:txBody>
          <a:bodyPr/>
          <a:lstStyle/>
          <a:p>
            <a:pPr algn="ctr" eaLnBrk="1" hangingPunct="1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89D45FF-DC8C-4A3D-BA1A-DD2ACCD716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1550" y="5131702"/>
            <a:ext cx="5760720" cy="384048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FDBBCCDD-35FF-4B1C-A90E-81CD9505F7D0}"/>
              </a:ext>
            </a:extLst>
          </p:cNvPr>
          <p:cNvSpPr txBox="1"/>
          <p:nvPr/>
        </p:nvSpPr>
        <p:spPr>
          <a:xfrm>
            <a:off x="3503712" y="5177969"/>
            <a:ext cx="18473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34326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1922D06-8E14-476A-A8A0-829F0EFB982C}"/>
              </a:ext>
            </a:extLst>
          </p:cNvPr>
          <p:cNvSpPr txBox="1"/>
          <p:nvPr/>
        </p:nvSpPr>
        <p:spPr>
          <a:xfrm>
            <a:off x="1703512" y="820810"/>
            <a:ext cx="7848872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Modell der Faktoranalyse:</a:t>
            </a: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für </a:t>
            </a:r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i=1...p</a:t>
            </a: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Faktorladungsmatrix</a:t>
            </a:r>
          </a:p>
          <a:p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 err="1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Kovarianzstruktur</a:t>
            </a:r>
            <a:r>
              <a:rPr lang="de-DE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 Modells 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3200" dirty="0"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</a:t>
            </a:r>
            <a:endParaRPr lang="de-DE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it-IT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Kommunalität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</a:t>
            </a:r>
            <a:r>
              <a:rPr lang="it-IT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spezifische</a:t>
            </a:r>
            <a:r>
              <a:rPr lang="it-IT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Varianzen</a:t>
            </a:r>
            <a:endParaRPr lang="de-DE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D76AD72-27A3-4DF9-AB43-95DA6A329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617" y="1340768"/>
            <a:ext cx="4325112" cy="89306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C29FF95-7967-46D3-9A3F-E73440A8B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095" y="2536552"/>
            <a:ext cx="1152144" cy="28803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75E776A-78D4-4812-81D2-89405D07C85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-138" b="19851"/>
          <a:stretch/>
        </p:blipFill>
        <p:spPr>
          <a:xfrm>
            <a:off x="1833078" y="3935843"/>
            <a:ext cx="4622962" cy="1077333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F7CEBCF0-6314-4597-AF96-CE90E10AD5C1}"/>
              </a:ext>
            </a:extLst>
          </p:cNvPr>
          <p:cNvCxnSpPr>
            <a:cxnSpLocks/>
          </p:cNvCxnSpPr>
          <p:nvPr/>
        </p:nvCxnSpPr>
        <p:spPr>
          <a:xfrm flipH="1">
            <a:off x="3431704" y="4988323"/>
            <a:ext cx="1080120" cy="38489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AC2EC92F-85A4-4968-B83E-D7FE8FF466F6}"/>
              </a:ext>
            </a:extLst>
          </p:cNvPr>
          <p:cNvCxnSpPr>
            <a:cxnSpLocks/>
          </p:cNvCxnSpPr>
          <p:nvPr/>
        </p:nvCxnSpPr>
        <p:spPr>
          <a:xfrm>
            <a:off x="6240016" y="4853538"/>
            <a:ext cx="396044" cy="57729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fik 16">
            <a:extLst>
              <a:ext uri="{FF2B5EF4-FFF2-40B4-BE49-F238E27FC236}">
                <a16:creationId xmlns:a16="http://schemas.microsoft.com/office/drawing/2014/main" id="{B7134B8F-ABDD-416F-815F-2FB2DDFBDD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9536" y="3513022"/>
            <a:ext cx="6324791" cy="364046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4775B40F-5766-4F16-8D53-60FE5D053D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7782" y="6168630"/>
            <a:ext cx="5292662" cy="456057"/>
          </a:xfrm>
          <a:prstGeom prst="rect">
            <a:avLst/>
          </a:prstGeom>
        </p:spPr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6E40F2FD-6716-4EA6-9FBD-27EEF34D36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8644"/>
            <a:ext cx="8229600" cy="704672"/>
          </a:xfrm>
          <a:noFill/>
        </p:spPr>
        <p:txBody>
          <a:bodyPr/>
          <a:lstStyle/>
          <a:p>
            <a:pPr algn="ctr" eaLnBrk="1" hangingPunct="1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 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6803EFC6-741F-43FB-8A79-6614DCDF05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0830" y="5737992"/>
            <a:ext cx="2908364" cy="43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22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1922D06-8E14-476A-A8A0-829F0EFB982C}"/>
              </a:ext>
            </a:extLst>
          </p:cNvPr>
          <p:cNvSpPr txBox="1"/>
          <p:nvPr/>
        </p:nvSpPr>
        <p:spPr>
          <a:xfrm>
            <a:off x="1415480" y="820810"/>
            <a:ext cx="800323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Kovarianzstruktur</a:t>
            </a:r>
            <a:r>
              <a:rPr lang="de-DE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 Modells 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3200" dirty="0"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für </a:t>
            </a:r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i=1...p</a:t>
            </a:r>
          </a:p>
          <a:p>
            <a:endParaRPr lang="de-DE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</a:t>
            </a:r>
            <a:r>
              <a:rPr lang="it-IT" sz="24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maximal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it-IT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spezifische</a:t>
            </a:r>
            <a:r>
              <a:rPr lang="it-IT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Varianzen</a:t>
            </a:r>
            <a:r>
              <a:rPr lang="it-IT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it-IT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Fehler</a:t>
            </a:r>
            <a:r>
              <a:rPr lang="it-IT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it-IT" sz="2400" dirty="0" err="1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eine</a:t>
            </a:r>
            <a:r>
              <a:rPr lang="it-IT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Lösung</a:t>
            </a:r>
            <a:r>
              <a:rPr lang="it-IT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it-IT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Eigenwerte von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die zugehörigen normierten Eigenvektoren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75E776A-78D4-4812-81D2-89405D07C85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/>
          <a:srcRect t="1" b="65181"/>
          <a:stretch/>
        </p:blipFill>
        <p:spPr>
          <a:xfrm>
            <a:off x="2598113" y="1340768"/>
            <a:ext cx="4616577" cy="468000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F7CEBCF0-6314-4597-AF96-CE90E10AD5C1}"/>
              </a:ext>
            </a:extLst>
          </p:cNvPr>
          <p:cNvCxnSpPr>
            <a:cxnSpLocks/>
          </p:cNvCxnSpPr>
          <p:nvPr/>
        </p:nvCxnSpPr>
        <p:spPr>
          <a:xfrm>
            <a:off x="5087890" y="1699008"/>
            <a:ext cx="1008111" cy="73160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AC2EC92F-85A4-4968-B83E-D7FE8FF466F6}"/>
              </a:ext>
            </a:extLst>
          </p:cNvPr>
          <p:cNvCxnSpPr>
            <a:cxnSpLocks/>
          </p:cNvCxnSpPr>
          <p:nvPr/>
        </p:nvCxnSpPr>
        <p:spPr>
          <a:xfrm>
            <a:off x="4349258" y="1828934"/>
            <a:ext cx="0" cy="499792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eck 12">
            <a:extLst>
              <a:ext uri="{FF2B5EF4-FFF2-40B4-BE49-F238E27FC236}">
                <a16:creationId xmlns:a16="http://schemas.microsoft.com/office/drawing/2014/main" id="{0EB4C0DF-A3E6-4598-A7FD-B718497CFFEF}"/>
              </a:ext>
            </a:extLst>
          </p:cNvPr>
          <p:cNvSpPr/>
          <p:nvPr/>
        </p:nvSpPr>
        <p:spPr>
          <a:xfrm>
            <a:off x="4042677" y="1256520"/>
            <a:ext cx="613165" cy="552249"/>
          </a:xfrm>
          <a:prstGeom prst="rect">
            <a:avLst/>
          </a:prstGeom>
          <a:noFill/>
          <a:ln w="34925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9E83C72-549B-4E28-A86B-3D5BFA8F9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9" y="3335038"/>
            <a:ext cx="5507355" cy="135350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A450B5D-9AF5-4B9F-8605-5B74718F7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594" y="5043867"/>
            <a:ext cx="3167825" cy="385572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769AB0AB-ECE3-4F49-BFC1-1600BD019E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171" y="5544403"/>
            <a:ext cx="1726311" cy="411861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8B1E6342-F09E-4FB8-8D79-287DE7944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8644"/>
            <a:ext cx="8229600" cy="704672"/>
          </a:xfrm>
          <a:noFill/>
        </p:spPr>
        <p:txBody>
          <a:bodyPr/>
          <a:lstStyle/>
          <a:p>
            <a:pPr algn="ctr" eaLnBrk="1" hangingPunct="1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 </a:t>
            </a:r>
          </a:p>
        </p:txBody>
      </p:sp>
    </p:spTree>
    <p:extLst>
      <p:ext uri="{BB962C8B-B14F-4D97-AF65-F5344CB8AC3E}">
        <p14:creationId xmlns:p14="http://schemas.microsoft.com/office/powerpoint/2010/main" val="3161298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1922D06-8E14-476A-A8A0-829F0EFB982C}"/>
              </a:ext>
            </a:extLst>
          </p:cNvPr>
          <p:cNvSpPr txBox="1"/>
          <p:nvPr/>
        </p:nvSpPr>
        <p:spPr>
          <a:xfrm>
            <a:off x="1415480" y="820810"/>
            <a:ext cx="8003232" cy="5924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Kovarianzstruktur</a:t>
            </a:r>
            <a:r>
              <a:rPr lang="de-DE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 Modells 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3200" dirty="0"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für </a:t>
            </a:r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i=1...p</a:t>
            </a:r>
          </a:p>
          <a:p>
            <a:endParaRPr lang="de-DE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</a:t>
            </a:r>
            <a:r>
              <a:rPr lang="it-IT" sz="2400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maximal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it-IT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spezifische</a:t>
            </a:r>
            <a:r>
              <a:rPr lang="it-IT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Varianzen</a:t>
            </a:r>
            <a:r>
              <a:rPr lang="it-IT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it-IT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Fehler</a:t>
            </a:r>
            <a:r>
              <a:rPr lang="it-IT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it-IT" sz="2400" dirty="0" err="1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eine</a:t>
            </a:r>
            <a:r>
              <a:rPr lang="it-IT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Lösung</a:t>
            </a:r>
            <a:r>
              <a:rPr lang="it-IT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it-IT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Problem: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Lösung nicht eindeutig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Die Faktorladungen L sind im Modell nur bis auf eine orthogonale Transformation eindeutig bestimmt.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24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de-DE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beliebige orthogonale Matrix </a:t>
            </a:r>
            <a:r>
              <a:rPr lang="de-DE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de-DE" sz="2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L* = LT </a:t>
            </a:r>
            <a:r>
              <a:rPr lang="de-DE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statt </a:t>
            </a:r>
            <a:r>
              <a:rPr lang="de-DE" sz="24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de-DE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liefert das gleiche Model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75E776A-78D4-4812-81D2-89405D07C85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/>
          <a:srcRect t="1" b="65181"/>
          <a:stretch/>
        </p:blipFill>
        <p:spPr>
          <a:xfrm>
            <a:off x="2598113" y="1340768"/>
            <a:ext cx="4616577" cy="468000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F7CEBCF0-6314-4597-AF96-CE90E10AD5C1}"/>
              </a:ext>
            </a:extLst>
          </p:cNvPr>
          <p:cNvCxnSpPr>
            <a:cxnSpLocks/>
          </p:cNvCxnSpPr>
          <p:nvPr/>
        </p:nvCxnSpPr>
        <p:spPr>
          <a:xfrm>
            <a:off x="5087890" y="1699008"/>
            <a:ext cx="1008111" cy="73160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AC2EC92F-85A4-4968-B83E-D7FE8FF466F6}"/>
              </a:ext>
            </a:extLst>
          </p:cNvPr>
          <p:cNvCxnSpPr>
            <a:cxnSpLocks/>
          </p:cNvCxnSpPr>
          <p:nvPr/>
        </p:nvCxnSpPr>
        <p:spPr>
          <a:xfrm>
            <a:off x="4349258" y="1828934"/>
            <a:ext cx="0" cy="499792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hteck 12">
            <a:extLst>
              <a:ext uri="{FF2B5EF4-FFF2-40B4-BE49-F238E27FC236}">
                <a16:creationId xmlns:a16="http://schemas.microsoft.com/office/drawing/2014/main" id="{0EB4C0DF-A3E6-4598-A7FD-B718497CFFEF}"/>
              </a:ext>
            </a:extLst>
          </p:cNvPr>
          <p:cNvSpPr/>
          <p:nvPr/>
        </p:nvSpPr>
        <p:spPr>
          <a:xfrm>
            <a:off x="4042677" y="1256520"/>
            <a:ext cx="613165" cy="552249"/>
          </a:xfrm>
          <a:prstGeom prst="rect">
            <a:avLst/>
          </a:prstGeom>
          <a:noFill/>
          <a:ln w="34925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9E83C72-549B-4E28-A86B-3D5BFA8F9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9" y="3245388"/>
            <a:ext cx="5507355" cy="1353503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8B1E6342-F09E-4FB8-8D79-287DE7944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8644"/>
            <a:ext cx="8229600" cy="704672"/>
          </a:xfrm>
          <a:noFill/>
        </p:spPr>
        <p:txBody>
          <a:bodyPr/>
          <a:lstStyle/>
          <a:p>
            <a:pPr algn="ctr" eaLnBrk="1" hangingPunct="1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 </a:t>
            </a:r>
          </a:p>
        </p:txBody>
      </p:sp>
    </p:spTree>
    <p:extLst>
      <p:ext uri="{BB962C8B-B14F-4D97-AF65-F5344CB8AC3E}">
        <p14:creationId xmlns:p14="http://schemas.microsoft.com/office/powerpoint/2010/main" val="1744980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F8577B0-3A94-4E08-8C2A-EA5BAF08E9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28578" y="148196"/>
            <a:ext cx="9505056" cy="570458"/>
          </a:xfrm>
          <a:noFill/>
          <a:ln/>
        </p:spPr>
        <p:txBody>
          <a:bodyPr>
            <a:noAutofit/>
          </a:bodyPr>
          <a:lstStyle/>
          <a:p>
            <a:pPr algn="ctr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 - Hauptkomponentenanalyse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1922D06-8E14-476A-A8A0-829F0EFB982C}"/>
              </a:ext>
            </a:extLst>
          </p:cNvPr>
          <p:cNvSpPr txBox="1"/>
          <p:nvPr/>
        </p:nvSpPr>
        <p:spPr>
          <a:xfrm>
            <a:off x="1487488" y="820811"/>
            <a:ext cx="8064896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Datenwerte </a:t>
            </a:r>
          </a:p>
          <a:p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= (</a:t>
            </a:r>
            <a:r>
              <a:rPr lang="de-DE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de-DE" sz="24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ij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) ...empirische Kovarianzmatrix zu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Eigenwerte von </a:t>
            </a:r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  <a:p>
            <a:r>
              <a:rPr lang="de-DE" sz="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die zugehörigen normierten Eigenvektoren</a:t>
            </a: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Schätzer der Faktorladungen: Auswahl von </a:t>
            </a:r>
            <a:r>
              <a:rPr lang="de-DE" sz="2400" i="1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de-DE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Faktoren</a:t>
            </a: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</a:t>
            </a: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de-DE" sz="2400" dirty="0">
              <a:solidFill>
                <a:srgbClr val="C00000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3C3E244-AD86-4483-9B05-F301465C6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1574172"/>
            <a:ext cx="3220403" cy="46805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C289DBB-D676-4611-A72D-16A27F11F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548" y="2000639"/>
            <a:ext cx="1700213" cy="49206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F057FE1-F72D-4304-99C4-C457BA176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2390" y="3606205"/>
            <a:ext cx="6164771" cy="1656207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1B94A31B-A2EE-4C71-B396-713212017E62}"/>
              </a:ext>
            </a:extLst>
          </p:cNvPr>
          <p:cNvSpPr/>
          <p:nvPr/>
        </p:nvSpPr>
        <p:spPr>
          <a:xfrm>
            <a:off x="4112029" y="3738603"/>
            <a:ext cx="864096" cy="1368152"/>
          </a:xfrm>
          <a:prstGeom prst="rect">
            <a:avLst/>
          </a:prstGeom>
          <a:noFill/>
          <a:ln w="22225">
            <a:solidFill>
              <a:srgbClr val="C0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36476C4-94A7-413F-8AB6-3E5E7ABA2353}"/>
              </a:ext>
            </a:extLst>
          </p:cNvPr>
          <p:cNvSpPr/>
          <p:nvPr/>
        </p:nvSpPr>
        <p:spPr>
          <a:xfrm>
            <a:off x="5228978" y="3738603"/>
            <a:ext cx="864096" cy="1368152"/>
          </a:xfrm>
          <a:prstGeom prst="rect">
            <a:avLst/>
          </a:prstGeom>
          <a:noFill/>
          <a:ln w="22225">
            <a:solidFill>
              <a:srgbClr val="C0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EE489D4-36D0-4E8A-87AE-45835FB82657}"/>
              </a:ext>
            </a:extLst>
          </p:cNvPr>
          <p:cNvSpPr/>
          <p:nvPr/>
        </p:nvSpPr>
        <p:spPr>
          <a:xfrm>
            <a:off x="6960096" y="3738603"/>
            <a:ext cx="1080120" cy="1368152"/>
          </a:xfrm>
          <a:prstGeom prst="rect">
            <a:avLst/>
          </a:prstGeom>
          <a:noFill/>
          <a:ln w="22225">
            <a:solidFill>
              <a:srgbClr val="C0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C4427E95-2051-4F10-A50C-07583D648F7F}"/>
              </a:ext>
            </a:extLst>
          </p:cNvPr>
          <p:cNvCxnSpPr>
            <a:cxnSpLocks/>
          </p:cNvCxnSpPr>
          <p:nvPr/>
        </p:nvCxnSpPr>
        <p:spPr>
          <a:xfrm flipV="1">
            <a:off x="7500156" y="5106755"/>
            <a:ext cx="192830" cy="35264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C2B350AA-F27C-4B42-9A7C-AFAB820E73FC}"/>
              </a:ext>
            </a:extLst>
          </p:cNvPr>
          <p:cNvSpPr txBox="1"/>
          <p:nvPr/>
        </p:nvSpPr>
        <p:spPr>
          <a:xfrm>
            <a:off x="6657930" y="5459396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rgbClr val="C00000"/>
                </a:solidFill>
              </a:rPr>
              <a:t>m</a:t>
            </a:r>
            <a:r>
              <a:rPr lang="de-DE" dirty="0">
                <a:solidFill>
                  <a:srgbClr val="C00000"/>
                </a:solidFill>
              </a:rPr>
              <a:t> Spalten</a:t>
            </a: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03585813-029A-4700-B724-53F04ACA318C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4451034" y="5137140"/>
            <a:ext cx="2206896" cy="50692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61285C06-BC24-4D72-B781-ACF4C9CD5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2137" y="851052"/>
            <a:ext cx="1748272" cy="40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162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F8577B0-3A94-4E08-8C2A-EA5BAF08E9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28578" y="148196"/>
            <a:ext cx="9505056" cy="570458"/>
          </a:xfrm>
          <a:noFill/>
          <a:ln/>
        </p:spPr>
        <p:txBody>
          <a:bodyPr>
            <a:noAutofit/>
          </a:bodyPr>
          <a:lstStyle/>
          <a:p>
            <a:pPr algn="ctr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 - Hauptkomponentenanalyse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1922D06-8E14-476A-A8A0-829F0EFB982C}"/>
              </a:ext>
            </a:extLst>
          </p:cNvPr>
          <p:cNvSpPr txBox="1"/>
          <p:nvPr/>
        </p:nvSpPr>
        <p:spPr>
          <a:xfrm>
            <a:off x="1559496" y="820811"/>
            <a:ext cx="8064896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= (</a:t>
            </a:r>
            <a:r>
              <a:rPr lang="de-DE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de-DE" sz="24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ij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) ...empirische Kovarianzmatrix zu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Eigenwerte von </a:t>
            </a:r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  <a:p>
            <a:r>
              <a:rPr lang="de-DE" sz="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die zugehörigen normierten Eigenvektoren</a:t>
            </a:r>
          </a:p>
          <a:p>
            <a:r>
              <a:rPr lang="de-DE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Schätzer der Faktorladungen: Auswahl von </a:t>
            </a:r>
            <a:r>
              <a:rPr lang="de-DE" sz="2400" i="1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de-DE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Faktoren</a:t>
            </a: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</a:t>
            </a: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Schätzer der spezifischen Streuungen:</a:t>
            </a:r>
          </a:p>
          <a:p>
            <a:endParaRPr lang="de-DE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it-IT" sz="2400" dirty="0" err="1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Schätzer</a:t>
            </a:r>
            <a:r>
              <a:rPr lang="it-IT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</a:t>
            </a:r>
            <a:r>
              <a:rPr lang="it-IT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dirty="0" err="1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Kommunalitäten</a:t>
            </a:r>
            <a:r>
              <a:rPr lang="it-IT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de-DE" sz="2400" i="1" dirty="0">
              <a:solidFill>
                <a:srgbClr val="3399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solidFill>
                <a:srgbClr val="C00000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3C3E244-AD86-4483-9B05-F301465C6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1204704"/>
            <a:ext cx="3220403" cy="46805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C289DBB-D676-4611-A72D-16A27F11F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556" y="1631171"/>
            <a:ext cx="1700213" cy="49206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F057FE1-F72D-4304-99C4-C457BA176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4398" y="2440457"/>
            <a:ext cx="6164771" cy="1656207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1B94A31B-A2EE-4C71-B396-713212017E62}"/>
              </a:ext>
            </a:extLst>
          </p:cNvPr>
          <p:cNvSpPr/>
          <p:nvPr/>
        </p:nvSpPr>
        <p:spPr>
          <a:xfrm>
            <a:off x="4184037" y="2572855"/>
            <a:ext cx="864096" cy="1368152"/>
          </a:xfrm>
          <a:prstGeom prst="rect">
            <a:avLst/>
          </a:prstGeom>
          <a:noFill/>
          <a:ln w="22225">
            <a:solidFill>
              <a:srgbClr val="C0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36476C4-94A7-413F-8AB6-3E5E7ABA2353}"/>
              </a:ext>
            </a:extLst>
          </p:cNvPr>
          <p:cNvSpPr/>
          <p:nvPr/>
        </p:nvSpPr>
        <p:spPr>
          <a:xfrm>
            <a:off x="5300986" y="2572855"/>
            <a:ext cx="864096" cy="1368152"/>
          </a:xfrm>
          <a:prstGeom prst="rect">
            <a:avLst/>
          </a:prstGeom>
          <a:noFill/>
          <a:ln w="22225">
            <a:solidFill>
              <a:srgbClr val="C0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EE489D4-36D0-4E8A-87AE-45835FB82657}"/>
              </a:ext>
            </a:extLst>
          </p:cNvPr>
          <p:cNvSpPr/>
          <p:nvPr/>
        </p:nvSpPr>
        <p:spPr>
          <a:xfrm>
            <a:off x="7032104" y="2572855"/>
            <a:ext cx="1080120" cy="1368152"/>
          </a:xfrm>
          <a:prstGeom prst="rect">
            <a:avLst/>
          </a:prstGeom>
          <a:noFill/>
          <a:ln w="22225">
            <a:solidFill>
              <a:srgbClr val="C0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116A9C9-1B65-4252-B1AF-3DB28F74E7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0506" y="4471563"/>
            <a:ext cx="5288661" cy="976122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80ADBC9-5AE1-46CA-809C-1ECD9C6878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7800" y="5855272"/>
            <a:ext cx="3168396" cy="472059"/>
          </a:xfrm>
          <a:prstGeom prst="rect">
            <a:avLst/>
          </a:prstGeom>
        </p:spPr>
      </p:pic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C4427E95-2051-4F10-A50C-07583D648F7F}"/>
              </a:ext>
            </a:extLst>
          </p:cNvPr>
          <p:cNvCxnSpPr>
            <a:cxnSpLocks/>
          </p:cNvCxnSpPr>
          <p:nvPr/>
        </p:nvCxnSpPr>
        <p:spPr>
          <a:xfrm flipH="1" flipV="1">
            <a:off x="7764994" y="3941007"/>
            <a:ext cx="824342" cy="32176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C2B350AA-F27C-4B42-9A7C-AFAB820E73FC}"/>
              </a:ext>
            </a:extLst>
          </p:cNvPr>
          <p:cNvSpPr txBox="1"/>
          <p:nvPr/>
        </p:nvSpPr>
        <p:spPr>
          <a:xfrm>
            <a:off x="8544996" y="405416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>
                <a:solidFill>
                  <a:srgbClr val="C00000"/>
                </a:solidFill>
              </a:rPr>
              <a:t>m</a:t>
            </a:r>
            <a:r>
              <a:rPr lang="de-DE">
                <a:solidFill>
                  <a:srgbClr val="C00000"/>
                </a:solidFill>
              </a:rPr>
              <a:t> Spalten</a:t>
            </a: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03585813-029A-4700-B724-53F04ACA318C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5733034" y="3949832"/>
            <a:ext cx="2811962" cy="28899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323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F8577B0-3A94-4E08-8C2A-EA5BAF08E9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9792" y="144908"/>
            <a:ext cx="9721080" cy="570458"/>
          </a:xfrm>
          <a:noFill/>
          <a:ln/>
        </p:spPr>
        <p:txBody>
          <a:bodyPr>
            <a:noAutofit/>
          </a:bodyPr>
          <a:lstStyle/>
          <a:p>
            <a:pPr algn="ctr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 - Hauptkomponentenanalyse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1922D06-8E14-476A-A8A0-829F0EFB982C}"/>
              </a:ext>
            </a:extLst>
          </p:cNvPr>
          <p:cNvSpPr txBox="1"/>
          <p:nvPr/>
        </p:nvSpPr>
        <p:spPr>
          <a:xfrm>
            <a:off x="1631504" y="820810"/>
            <a:ext cx="8064896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= (</a:t>
            </a:r>
            <a:r>
              <a:rPr lang="de-DE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de-DE" sz="2400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ij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) sei die empirische Kovarianzmatrix zu 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Eigenwerte von </a:t>
            </a:r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</a:p>
          <a:p>
            <a:r>
              <a:rPr lang="de-DE" sz="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die zugehörigen normierten Eigenvektoren</a:t>
            </a:r>
          </a:p>
          <a:p>
            <a:r>
              <a:rPr lang="de-DE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Schätzer der Faktorladungen:</a:t>
            </a: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</a:t>
            </a: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Wahl von </a:t>
            </a:r>
            <a:r>
              <a:rPr lang="de-DE" sz="2400" i="1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de-DE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de-DE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Kaiser-Kriterium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24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</a:t>
            </a:r>
            <a:r>
              <a:rPr lang="de-DE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-Plot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Knickpunkt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suchen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3C3E244-AD86-4483-9B05-F301465C6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1204704"/>
            <a:ext cx="3220403" cy="46805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C289DBB-D676-4611-A72D-16A27F11F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564" y="1631171"/>
            <a:ext cx="1700213" cy="49206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2F057FE1-F72D-4304-99C4-C457BA176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6406" y="2440457"/>
            <a:ext cx="6164771" cy="1656207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1B94A31B-A2EE-4C71-B396-713212017E62}"/>
              </a:ext>
            </a:extLst>
          </p:cNvPr>
          <p:cNvSpPr/>
          <p:nvPr/>
        </p:nvSpPr>
        <p:spPr>
          <a:xfrm>
            <a:off x="4256045" y="2572855"/>
            <a:ext cx="864096" cy="1368152"/>
          </a:xfrm>
          <a:prstGeom prst="rect">
            <a:avLst/>
          </a:prstGeom>
          <a:noFill/>
          <a:ln w="22225">
            <a:solidFill>
              <a:srgbClr val="C0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36476C4-94A7-413F-8AB6-3E5E7ABA2353}"/>
              </a:ext>
            </a:extLst>
          </p:cNvPr>
          <p:cNvSpPr/>
          <p:nvPr/>
        </p:nvSpPr>
        <p:spPr>
          <a:xfrm>
            <a:off x="5372994" y="2572855"/>
            <a:ext cx="864096" cy="1368152"/>
          </a:xfrm>
          <a:prstGeom prst="rect">
            <a:avLst/>
          </a:prstGeom>
          <a:noFill/>
          <a:ln w="22225">
            <a:solidFill>
              <a:srgbClr val="C0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EE489D4-36D0-4E8A-87AE-45835FB82657}"/>
              </a:ext>
            </a:extLst>
          </p:cNvPr>
          <p:cNvSpPr/>
          <p:nvPr/>
        </p:nvSpPr>
        <p:spPr>
          <a:xfrm>
            <a:off x="7104112" y="2572855"/>
            <a:ext cx="1080120" cy="1368152"/>
          </a:xfrm>
          <a:prstGeom prst="rect">
            <a:avLst/>
          </a:prstGeom>
          <a:noFill/>
          <a:ln w="22225">
            <a:solidFill>
              <a:srgbClr val="C0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C4427E95-2051-4F10-A50C-07583D648F7F}"/>
              </a:ext>
            </a:extLst>
          </p:cNvPr>
          <p:cNvCxnSpPr>
            <a:cxnSpLocks/>
          </p:cNvCxnSpPr>
          <p:nvPr/>
        </p:nvCxnSpPr>
        <p:spPr>
          <a:xfrm flipH="1" flipV="1">
            <a:off x="7837002" y="3941007"/>
            <a:ext cx="824342" cy="32176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C2B350AA-F27C-4B42-9A7C-AFAB820E73FC}"/>
              </a:ext>
            </a:extLst>
          </p:cNvPr>
          <p:cNvSpPr txBox="1"/>
          <p:nvPr/>
        </p:nvSpPr>
        <p:spPr>
          <a:xfrm>
            <a:off x="8617004" y="405416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>
                <a:solidFill>
                  <a:srgbClr val="C00000"/>
                </a:solidFill>
              </a:rPr>
              <a:t>m</a:t>
            </a:r>
            <a:r>
              <a:rPr lang="de-DE">
                <a:solidFill>
                  <a:srgbClr val="C00000"/>
                </a:solidFill>
              </a:rPr>
              <a:t> Spalten</a:t>
            </a: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03585813-029A-4700-B724-53F04ACA318C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5805042" y="3949832"/>
            <a:ext cx="2811962" cy="28899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fik 2">
            <a:extLst>
              <a:ext uri="{FF2B5EF4-FFF2-40B4-BE49-F238E27FC236}">
                <a16:creationId xmlns:a16="http://schemas.microsoft.com/office/drawing/2014/main" id="{49D989E7-5ED4-4BBA-9AD0-F51718022A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9271" y="4430866"/>
            <a:ext cx="2948750" cy="446913"/>
          </a:xfrm>
          <a:prstGeom prst="rect">
            <a:avLst/>
          </a:prstGeom>
        </p:spPr>
      </p:pic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0036BCEF-3C08-40B2-A845-AEA0AE32ED56}"/>
              </a:ext>
            </a:extLst>
          </p:cNvPr>
          <p:cNvCxnSpPr>
            <a:cxnSpLocks/>
          </p:cNvCxnSpPr>
          <p:nvPr/>
        </p:nvCxnSpPr>
        <p:spPr>
          <a:xfrm>
            <a:off x="3797823" y="6501044"/>
            <a:ext cx="1872208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BE81FE13-63E4-481F-9D6E-EC8709128D40}"/>
              </a:ext>
            </a:extLst>
          </p:cNvPr>
          <p:cNvCxnSpPr>
            <a:cxnSpLocks/>
          </p:cNvCxnSpPr>
          <p:nvPr/>
        </p:nvCxnSpPr>
        <p:spPr>
          <a:xfrm flipV="1">
            <a:off x="3797823" y="5013176"/>
            <a:ext cx="0" cy="148786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BFCB6DD4-BA15-4250-B86C-1C481FCA505F}"/>
              </a:ext>
            </a:extLst>
          </p:cNvPr>
          <p:cNvCxnSpPr>
            <a:cxnSpLocks/>
          </p:cNvCxnSpPr>
          <p:nvPr/>
        </p:nvCxnSpPr>
        <p:spPr>
          <a:xfrm>
            <a:off x="4007769" y="5380590"/>
            <a:ext cx="248277" cy="663974"/>
          </a:xfrm>
          <a:prstGeom prst="straightConnector1">
            <a:avLst/>
          </a:prstGeom>
          <a:ln w="2222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CEA2DA43-C464-41C6-A452-FC66DCC32B77}"/>
              </a:ext>
            </a:extLst>
          </p:cNvPr>
          <p:cNvCxnSpPr>
            <a:cxnSpLocks/>
          </p:cNvCxnSpPr>
          <p:nvPr/>
        </p:nvCxnSpPr>
        <p:spPr>
          <a:xfrm>
            <a:off x="4256046" y="6051264"/>
            <a:ext cx="425531" cy="153796"/>
          </a:xfrm>
          <a:prstGeom prst="straightConnector1">
            <a:avLst/>
          </a:prstGeom>
          <a:ln w="2222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E002FD30-25BB-4B26-B672-0EBE7FEB360C}"/>
              </a:ext>
            </a:extLst>
          </p:cNvPr>
          <p:cNvCxnSpPr>
            <a:cxnSpLocks/>
          </p:cNvCxnSpPr>
          <p:nvPr/>
        </p:nvCxnSpPr>
        <p:spPr>
          <a:xfrm>
            <a:off x="4682160" y="6205060"/>
            <a:ext cx="432048" cy="128114"/>
          </a:xfrm>
          <a:prstGeom prst="straightConnector1">
            <a:avLst/>
          </a:prstGeom>
          <a:ln w="2222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F1277CE0-DB3C-4B1D-98A6-26AF3D4A5CA1}"/>
              </a:ext>
            </a:extLst>
          </p:cNvPr>
          <p:cNvCxnSpPr>
            <a:cxnSpLocks/>
          </p:cNvCxnSpPr>
          <p:nvPr/>
        </p:nvCxnSpPr>
        <p:spPr>
          <a:xfrm>
            <a:off x="5114208" y="6333174"/>
            <a:ext cx="405728" cy="48154"/>
          </a:xfrm>
          <a:prstGeom prst="straightConnector1">
            <a:avLst/>
          </a:prstGeom>
          <a:ln w="22225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lipse 29">
            <a:extLst>
              <a:ext uri="{FF2B5EF4-FFF2-40B4-BE49-F238E27FC236}">
                <a16:creationId xmlns:a16="http://schemas.microsoft.com/office/drawing/2014/main" id="{E4DAE868-4EAB-4A7C-A99B-90FC351BC430}"/>
              </a:ext>
            </a:extLst>
          </p:cNvPr>
          <p:cNvSpPr/>
          <p:nvPr/>
        </p:nvSpPr>
        <p:spPr>
          <a:xfrm>
            <a:off x="4159895" y="5963716"/>
            <a:ext cx="192830" cy="172069"/>
          </a:xfrm>
          <a:prstGeom prst="ellipse">
            <a:avLst/>
          </a:prstGeom>
          <a:solidFill>
            <a:srgbClr val="C00000">
              <a:alpha val="0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3EB86A20-7B27-405A-9677-FAF51121D57E}"/>
              </a:ext>
            </a:extLst>
          </p:cNvPr>
          <p:cNvSpPr txBox="1"/>
          <p:nvPr/>
        </p:nvSpPr>
        <p:spPr>
          <a:xfrm>
            <a:off x="6230491" y="6356436"/>
            <a:ext cx="479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Nr.</a:t>
            </a:r>
          </a:p>
        </p:txBody>
      </p:sp>
      <p:sp>
        <p:nvSpPr>
          <p:cNvPr id="3072" name="Textfeld 3071">
            <a:extLst>
              <a:ext uri="{FF2B5EF4-FFF2-40B4-BE49-F238E27FC236}">
                <a16:creationId xmlns:a16="http://schemas.microsoft.com/office/drawing/2014/main" id="{1119AC36-FA85-4B03-AAEE-ABC7AA8D863E}"/>
              </a:ext>
            </a:extLst>
          </p:cNvPr>
          <p:cNvSpPr txBox="1"/>
          <p:nvPr/>
        </p:nvSpPr>
        <p:spPr>
          <a:xfrm>
            <a:off x="3771356" y="4927323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Eigenwert</a:t>
            </a:r>
          </a:p>
        </p:txBody>
      </p:sp>
    </p:spTree>
    <p:extLst>
      <p:ext uri="{BB962C8B-B14F-4D97-AF65-F5344CB8AC3E}">
        <p14:creationId xmlns:p14="http://schemas.microsoft.com/office/powerpoint/2010/main" val="3503946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F8577B0-3A94-4E08-8C2A-EA5BAF08E9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5520" y="131404"/>
            <a:ext cx="8640960" cy="570458"/>
          </a:xfrm>
          <a:noFill/>
          <a:ln/>
        </p:spPr>
        <p:txBody>
          <a:bodyPr>
            <a:noAutofit/>
          </a:bodyPr>
          <a:lstStyle/>
          <a:p>
            <a:pPr algn="ctr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 - Rotationen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1922D06-8E14-476A-A8A0-829F0EFB982C}"/>
              </a:ext>
            </a:extLst>
          </p:cNvPr>
          <p:cNvSpPr txBox="1"/>
          <p:nvPr/>
        </p:nvSpPr>
        <p:spPr>
          <a:xfrm>
            <a:off x="2207568" y="820811"/>
            <a:ext cx="806489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i="1" dirty="0"/>
              <a:t>                  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geschätzte Faktorladungen</a:t>
            </a:r>
          </a:p>
          <a:p>
            <a:r>
              <a:rPr lang="de-DE" sz="2400" dirty="0" err="1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Varimax</a:t>
            </a:r>
            <a:r>
              <a:rPr lang="de-DE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-Kriterium</a:t>
            </a:r>
          </a:p>
          <a:p>
            <a:endParaRPr lang="de-DE" sz="2400" dirty="0">
              <a:solidFill>
                <a:srgbClr val="3399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solidFill>
                <a:srgbClr val="3399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32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wobei                                   orthogonale Matrix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Varianz der quadrierten Faktorladungen für jede Spalte, also jeden Faktor 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maximal</a:t>
            </a:r>
            <a:endParaRPr lang="de-DE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2AEC599-6AB2-48ED-9EDA-3F2B02B69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639" y="1556793"/>
            <a:ext cx="5516690" cy="111213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34E2E75-950D-4EC0-91F7-4E403A1A5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644" y="2771348"/>
            <a:ext cx="2716340" cy="42805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76B6F44-7713-4985-A087-DE9BD253E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576" y="783173"/>
            <a:ext cx="1184148" cy="508064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A22B4FE4-88D1-4C34-9A8A-58AC1A971B43}"/>
              </a:ext>
            </a:extLst>
          </p:cNvPr>
          <p:cNvCxnSpPr>
            <a:cxnSpLocks/>
          </p:cNvCxnSpPr>
          <p:nvPr/>
        </p:nvCxnSpPr>
        <p:spPr>
          <a:xfrm>
            <a:off x="4727848" y="6309320"/>
            <a:ext cx="1872208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000564BA-9DF9-4D1A-A815-1B0892DE59C5}"/>
              </a:ext>
            </a:extLst>
          </p:cNvPr>
          <p:cNvCxnSpPr>
            <a:cxnSpLocks/>
          </p:cNvCxnSpPr>
          <p:nvPr/>
        </p:nvCxnSpPr>
        <p:spPr>
          <a:xfrm flipV="1">
            <a:off x="4727848" y="4575698"/>
            <a:ext cx="0" cy="1733622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fik 17">
            <a:extLst>
              <a:ext uri="{FF2B5EF4-FFF2-40B4-BE49-F238E27FC236}">
                <a16:creationId xmlns:a16="http://schemas.microsoft.com/office/drawing/2014/main" id="{D255A2FD-F5BC-4146-BBA4-D9BDB92F57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4072" y="6119296"/>
            <a:ext cx="348044" cy="380048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4A24EB14-0A51-470F-93CA-A9AFDEB861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620" y="4180788"/>
            <a:ext cx="332042" cy="364046"/>
          </a:xfrm>
          <a:prstGeom prst="rect">
            <a:avLst/>
          </a:prstGeom>
        </p:spPr>
      </p:pic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3F36569E-FB30-44F2-8C6D-E62BB49C4747}"/>
              </a:ext>
            </a:extLst>
          </p:cNvPr>
          <p:cNvCxnSpPr>
            <a:cxnSpLocks/>
          </p:cNvCxnSpPr>
          <p:nvPr/>
        </p:nvCxnSpPr>
        <p:spPr>
          <a:xfrm flipV="1">
            <a:off x="4733838" y="5231670"/>
            <a:ext cx="1506179" cy="1069701"/>
          </a:xfrm>
          <a:prstGeom prst="straightConnector1">
            <a:avLst/>
          </a:prstGeom>
          <a:ln w="2222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83643CFB-9EC3-4D47-AECB-38B47CAD499A}"/>
              </a:ext>
            </a:extLst>
          </p:cNvPr>
          <p:cNvCxnSpPr>
            <a:cxnSpLocks/>
          </p:cNvCxnSpPr>
          <p:nvPr/>
        </p:nvCxnSpPr>
        <p:spPr>
          <a:xfrm flipH="1" flipV="1">
            <a:off x="3791744" y="5013177"/>
            <a:ext cx="942092" cy="1296145"/>
          </a:xfrm>
          <a:prstGeom prst="straightConnector1">
            <a:avLst/>
          </a:prstGeom>
          <a:ln w="2222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3" name="Bogen 3072">
            <a:extLst>
              <a:ext uri="{FF2B5EF4-FFF2-40B4-BE49-F238E27FC236}">
                <a16:creationId xmlns:a16="http://schemas.microsoft.com/office/drawing/2014/main" id="{B84C745D-7C85-4569-A333-4763DB0DD491}"/>
              </a:ext>
            </a:extLst>
          </p:cNvPr>
          <p:cNvSpPr/>
          <p:nvPr/>
        </p:nvSpPr>
        <p:spPr>
          <a:xfrm rot="1260000">
            <a:off x="5413811" y="5586826"/>
            <a:ext cx="792088" cy="900728"/>
          </a:xfrm>
          <a:prstGeom prst="arc">
            <a:avLst/>
          </a:prstGeom>
          <a:ln w="19050">
            <a:solidFill>
              <a:srgbClr val="7030A0"/>
            </a:solidFill>
            <a:prstDash val="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Bogen 34">
            <a:extLst>
              <a:ext uri="{FF2B5EF4-FFF2-40B4-BE49-F238E27FC236}">
                <a16:creationId xmlns:a16="http://schemas.microsoft.com/office/drawing/2014/main" id="{3086EA06-1026-4E27-BE14-9DF8673E1288}"/>
              </a:ext>
            </a:extLst>
          </p:cNvPr>
          <p:cNvSpPr/>
          <p:nvPr/>
        </p:nvSpPr>
        <p:spPr>
          <a:xfrm rot="-3660000">
            <a:off x="4021336" y="4928981"/>
            <a:ext cx="792088" cy="900728"/>
          </a:xfrm>
          <a:prstGeom prst="arc">
            <a:avLst/>
          </a:prstGeom>
          <a:ln w="19050">
            <a:solidFill>
              <a:srgbClr val="7030A0"/>
            </a:solidFill>
            <a:prstDash val="dash"/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075" name="Grafik 3074">
            <a:extLst>
              <a:ext uri="{FF2B5EF4-FFF2-40B4-BE49-F238E27FC236}">
                <a16:creationId xmlns:a16="http://schemas.microsoft.com/office/drawing/2014/main" id="{44449894-3FFD-4D6B-8580-EF75E1954A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5029" y="4974027"/>
            <a:ext cx="346329" cy="390906"/>
          </a:xfrm>
          <a:prstGeom prst="rect">
            <a:avLst/>
          </a:prstGeom>
        </p:spPr>
      </p:pic>
      <p:pic>
        <p:nvPicPr>
          <p:cNvPr id="3076" name="Grafik 3075">
            <a:extLst>
              <a:ext uri="{FF2B5EF4-FFF2-40B4-BE49-F238E27FC236}">
                <a16:creationId xmlns:a16="http://schemas.microsoft.com/office/drawing/2014/main" id="{38A101E4-736B-4676-BA12-EFB43D327E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1116" y="4586551"/>
            <a:ext cx="342900" cy="387477"/>
          </a:xfrm>
          <a:prstGeom prst="rect">
            <a:avLst/>
          </a:prstGeom>
        </p:spPr>
      </p:pic>
      <p:sp>
        <p:nvSpPr>
          <p:cNvPr id="3077" name="Textfeld 3076">
            <a:extLst>
              <a:ext uri="{FF2B5EF4-FFF2-40B4-BE49-F238E27FC236}">
                <a16:creationId xmlns:a16="http://schemas.microsoft.com/office/drawing/2014/main" id="{9691512F-3A36-421A-9C89-140D9033FD62}"/>
              </a:ext>
            </a:extLst>
          </p:cNvPr>
          <p:cNvSpPr txBox="1"/>
          <p:nvPr/>
        </p:nvSpPr>
        <p:spPr>
          <a:xfrm>
            <a:off x="5336572" y="4297811"/>
            <a:ext cx="3163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>
                <a:solidFill>
                  <a:srgbClr val="7030A0"/>
                </a:solidFill>
              </a:rPr>
              <a:t>Rotation der Faktoren</a:t>
            </a:r>
          </a:p>
        </p:txBody>
      </p:sp>
    </p:spTree>
    <p:extLst>
      <p:ext uri="{BB962C8B-B14F-4D97-AF65-F5344CB8AC3E}">
        <p14:creationId xmlns:p14="http://schemas.microsoft.com/office/powerpoint/2010/main" val="509894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F8577B0-3A94-4E08-8C2A-EA5BAF08E9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5520" y="122238"/>
            <a:ext cx="8640960" cy="570458"/>
          </a:xfrm>
          <a:noFill/>
          <a:ln/>
        </p:spPr>
        <p:txBody>
          <a:bodyPr>
            <a:noAutofit/>
          </a:bodyPr>
          <a:lstStyle/>
          <a:p>
            <a:pPr algn="ctr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 - Beispiel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1922D06-8E14-476A-A8A0-829F0EFB982C}"/>
              </a:ext>
            </a:extLst>
          </p:cNvPr>
          <p:cNvSpPr txBox="1"/>
          <p:nvPr/>
        </p:nvSpPr>
        <p:spPr>
          <a:xfrm>
            <a:off x="2207568" y="764704"/>
            <a:ext cx="806489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nach Lawley/Maxwell 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Prüfungsnoten von Schülern: Gälisch, Englisch, Geschichte, Arithmetik, Algebra, Geometrie 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geschätzte Korrelationen</a:t>
            </a:r>
          </a:p>
          <a:p>
            <a:endParaRPr lang="de-DE" sz="2400" dirty="0"/>
          </a:p>
          <a:p>
            <a:endParaRPr lang="de-DE" sz="2400" dirty="0"/>
          </a:p>
          <a:p>
            <a:endParaRPr lang="de-DE" sz="2400" dirty="0"/>
          </a:p>
          <a:p>
            <a:endParaRPr lang="de-DE" sz="2400" dirty="0"/>
          </a:p>
          <a:p>
            <a:endParaRPr lang="de-DE" sz="2400" dirty="0">
              <a:solidFill>
                <a:srgbClr val="339933"/>
              </a:solidFill>
            </a:endParaRPr>
          </a:p>
          <a:p>
            <a:endParaRPr lang="de-DE" sz="2400" dirty="0">
              <a:solidFill>
                <a:srgbClr val="339933"/>
              </a:solidFill>
            </a:endParaRPr>
          </a:p>
          <a:p>
            <a:endParaRPr lang="de-DE" sz="2400" dirty="0">
              <a:solidFill>
                <a:srgbClr val="339933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3DC6D03-B2E2-4043-8446-FB6EBD25A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626" y="2348431"/>
            <a:ext cx="5876735" cy="295637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5327FD00-D9F1-4135-A61D-9486139D14ED}"/>
              </a:ext>
            </a:extLst>
          </p:cNvPr>
          <p:cNvSpPr/>
          <p:nvPr/>
        </p:nvSpPr>
        <p:spPr>
          <a:xfrm>
            <a:off x="6716364" y="3861048"/>
            <a:ext cx="792088" cy="394472"/>
          </a:xfrm>
          <a:prstGeom prst="rect">
            <a:avLst/>
          </a:prstGeom>
          <a:noFill/>
          <a:ln w="317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C5C7A0F-7B7C-4CBF-85CA-10A84A21CDE9}"/>
              </a:ext>
            </a:extLst>
          </p:cNvPr>
          <p:cNvSpPr/>
          <p:nvPr/>
        </p:nvSpPr>
        <p:spPr>
          <a:xfrm>
            <a:off x="7529977" y="4358757"/>
            <a:ext cx="792088" cy="394472"/>
          </a:xfrm>
          <a:prstGeom prst="rect">
            <a:avLst/>
          </a:prstGeom>
          <a:noFill/>
          <a:ln w="317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774168C-3723-42B2-92E7-D96C57061D07}"/>
              </a:ext>
            </a:extLst>
          </p:cNvPr>
          <p:cNvSpPr/>
          <p:nvPr/>
        </p:nvSpPr>
        <p:spPr>
          <a:xfrm>
            <a:off x="7558415" y="3857845"/>
            <a:ext cx="792088" cy="394472"/>
          </a:xfrm>
          <a:prstGeom prst="rect">
            <a:avLst/>
          </a:prstGeom>
          <a:noFill/>
          <a:ln w="317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9908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F8577B0-3A94-4E08-8C2A-EA5BAF08E9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5520" y="122238"/>
            <a:ext cx="8640960" cy="570458"/>
          </a:xfrm>
          <a:noFill/>
          <a:ln/>
        </p:spPr>
        <p:txBody>
          <a:bodyPr>
            <a:noAutofit/>
          </a:bodyPr>
          <a:lstStyle/>
          <a:p>
            <a:pPr algn="ctr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 - Beispiel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1922D06-8E14-476A-A8A0-829F0EFB982C}"/>
              </a:ext>
            </a:extLst>
          </p:cNvPr>
          <p:cNvSpPr txBox="1"/>
          <p:nvPr/>
        </p:nvSpPr>
        <p:spPr>
          <a:xfrm>
            <a:off x="2207568" y="764705"/>
            <a:ext cx="806489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Prüfungsnoten von Schülern: Gälisch, Englisch, Geschichte, Arithmetik, Algebra, Geometrie 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geschätzte Faktorladungen</a:t>
            </a: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solidFill>
                <a:srgbClr val="3399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solidFill>
                <a:srgbClr val="3399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solidFill>
                <a:srgbClr val="3399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solidFill>
                <a:srgbClr val="3399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solidFill>
                <a:srgbClr val="3399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de-DE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= µ</a:t>
            </a:r>
            <a:r>
              <a:rPr lang="de-DE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 + 0.553 </a:t>
            </a:r>
            <a:r>
              <a:rPr lang="de-DE" sz="24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DE" sz="2400" b="0" i="1" u="none" strike="noStrike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de-DE" sz="24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+ 0.429 F</a:t>
            </a:r>
            <a:r>
              <a:rPr lang="de-DE" sz="2400" i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de-DE" sz="2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Fehler...</a:t>
            </a:r>
            <a:endParaRPr lang="de-DE" sz="2400" b="0" i="1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elle 5">
            <a:extLst>
              <a:ext uri="{FF2B5EF4-FFF2-40B4-BE49-F238E27FC236}">
                <a16:creationId xmlns:a16="http://schemas.microsoft.com/office/drawing/2014/main" id="{BEBFAEFC-637D-41D9-964D-1AAE4508D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496496"/>
              </p:ext>
            </p:extLst>
          </p:nvPr>
        </p:nvGraphicFramePr>
        <p:xfrm>
          <a:off x="2711624" y="2276872"/>
          <a:ext cx="6336705" cy="2751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400692188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34019708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150491035"/>
                    </a:ext>
                  </a:extLst>
                </a:gridCol>
                <a:gridCol w="2448273">
                  <a:extLst>
                    <a:ext uri="{9D8B030D-6E8A-4147-A177-3AD203B41FA5}">
                      <a16:colId xmlns:a16="http://schemas.microsoft.com/office/drawing/2014/main" val="2572008994"/>
                    </a:ext>
                  </a:extLst>
                </a:gridCol>
              </a:tblGrid>
              <a:tr h="499610">
                <a:tc>
                  <a:txBody>
                    <a:bodyPr/>
                    <a:lstStyle/>
                    <a:p>
                      <a:pPr algn="l" fontAlgn="b"/>
                      <a:endParaRPr lang="de-DE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24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de-DE" sz="2400" b="0" i="1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de-DE" sz="2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24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de-DE" sz="2400" b="0" i="1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de-DE" sz="2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Kommunalität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3909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Gälisch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0.553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054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Englisch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28822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Geschichte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6323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Arithmetik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0.623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19779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Algebra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0.569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3960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Geometrie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0.595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-0.132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0531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3832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F8577B0-3A94-4E08-8C2A-EA5BAF08E9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5520" y="122238"/>
            <a:ext cx="8640960" cy="570458"/>
          </a:xfrm>
          <a:noFill/>
          <a:ln/>
        </p:spPr>
        <p:txBody>
          <a:bodyPr>
            <a:noAutofit/>
          </a:bodyPr>
          <a:lstStyle/>
          <a:p>
            <a:pPr algn="ctr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 - Beispiel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1922D06-8E14-476A-A8A0-829F0EFB982C}"/>
              </a:ext>
            </a:extLst>
          </p:cNvPr>
          <p:cNvSpPr txBox="1"/>
          <p:nvPr/>
        </p:nvSpPr>
        <p:spPr>
          <a:xfrm>
            <a:off x="2207568" y="764705"/>
            <a:ext cx="80648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Prüfungsnoten von Schülern</a:t>
            </a: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solidFill>
                <a:srgbClr val="3399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solidFill>
                <a:srgbClr val="3399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solidFill>
                <a:srgbClr val="3399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solidFill>
                <a:srgbClr val="3399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solidFill>
                <a:srgbClr val="3399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Interpretation: </a:t>
            </a:r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DE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allgemeiner Intelligenzfaktor, </a:t>
            </a:r>
          </a:p>
          <a:p>
            <a:r>
              <a:rPr lang="de-DE" sz="2400" i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de-DE" sz="24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mathematische/andere Fähigkeiten</a:t>
            </a:r>
          </a:p>
        </p:txBody>
      </p:sp>
      <p:graphicFrame>
        <p:nvGraphicFramePr>
          <p:cNvPr id="4" name="Tabelle 5">
            <a:extLst>
              <a:ext uri="{FF2B5EF4-FFF2-40B4-BE49-F238E27FC236}">
                <a16:creationId xmlns:a16="http://schemas.microsoft.com/office/drawing/2014/main" id="{BEBFAEFC-637D-41D9-964D-1AAE4508D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4417"/>
              </p:ext>
            </p:extLst>
          </p:nvPr>
        </p:nvGraphicFramePr>
        <p:xfrm>
          <a:off x="2783632" y="1464314"/>
          <a:ext cx="6336705" cy="27557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400692188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34019708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150491035"/>
                    </a:ext>
                  </a:extLst>
                </a:gridCol>
                <a:gridCol w="2448273">
                  <a:extLst>
                    <a:ext uri="{9D8B030D-6E8A-4147-A177-3AD203B41FA5}">
                      <a16:colId xmlns:a16="http://schemas.microsoft.com/office/drawing/2014/main" val="2572008994"/>
                    </a:ext>
                  </a:extLst>
                </a:gridCol>
              </a:tblGrid>
              <a:tr h="504055">
                <a:tc>
                  <a:txBody>
                    <a:bodyPr/>
                    <a:lstStyle/>
                    <a:p>
                      <a:pPr algn="l" fontAlgn="b"/>
                      <a:endParaRPr lang="de-DE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24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de-DE" sz="2400" b="0" i="1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de-DE" sz="2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24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de-DE" sz="2400" b="0" i="1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de-DE" sz="2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Kommunalität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3909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Gälisch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0.553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054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Englisch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28822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Geschichte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6323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Arithmetik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0.623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19779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Algebra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0.569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3960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Geometrie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0.595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2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-0.132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0.372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0531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659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F8577B0-3A94-4E08-8C2A-EA5BAF08E9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5520" y="266254"/>
            <a:ext cx="8640960" cy="570458"/>
          </a:xfrm>
          <a:noFill/>
          <a:ln/>
        </p:spPr>
        <p:txBody>
          <a:bodyPr>
            <a:noAutofit/>
          </a:bodyPr>
          <a:lstStyle/>
          <a:p>
            <a:pPr algn="ctr"/>
            <a:r>
              <a:rPr 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Berechnung der Faktor-Scores</a:t>
            </a:r>
            <a:endParaRPr lang="de-DE" altLang="de-DE" sz="3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1269AFE-A0EC-4653-B8E7-A8E449CAACBB}"/>
              </a:ext>
            </a:extLst>
          </p:cNvPr>
          <p:cNvSpPr txBox="1"/>
          <p:nvPr/>
        </p:nvSpPr>
        <p:spPr>
          <a:xfrm>
            <a:off x="1271464" y="836712"/>
            <a:ext cx="82809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de-DE" sz="2400" dirty="0"/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Datenwerte </a:t>
            </a: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4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Methode der gewichteten kleinsten Quadrate</a:t>
            </a: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 durch Schätzer ersetzen 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Diese Vektoren stellen die dimensionsreduzierten Datenvektoren dar.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B6DFEFB-2131-4801-8613-9B3200D15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806" y="1236507"/>
            <a:ext cx="2565654" cy="42672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083CAAC-FA69-4FBA-BC7C-ED1CF14C1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480" y="3863100"/>
            <a:ext cx="853821" cy="33947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4AF9CB8-6546-48CB-816B-4F7AD751C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3189" y="4432070"/>
            <a:ext cx="6305931" cy="67894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99BC68B-3D1B-4899-8B61-20E2E5FE58C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7863" t="18602" r="-964" b="29834"/>
          <a:stretch/>
        </p:blipFill>
        <p:spPr>
          <a:xfrm>
            <a:off x="1415480" y="1715120"/>
            <a:ext cx="2808312" cy="50332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5DB246F-5E86-4746-80A1-AAF9063206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848" y="1787518"/>
            <a:ext cx="5723810" cy="153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253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6085220-5186-465F-9E7E-237651ABAC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>
            <a:normAutofit/>
          </a:bodyPr>
          <a:lstStyle/>
          <a:p>
            <a:pPr algn="ctr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</a:t>
            </a:r>
            <a:b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alt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Beispiel Chromatogramm</a:t>
            </a:r>
            <a:endParaRPr lang="de-DE" altLang="de-DE" sz="2800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316" name="Group 52">
            <a:extLst>
              <a:ext uri="{FF2B5EF4-FFF2-40B4-BE49-F238E27FC236}">
                <a16:creationId xmlns:a16="http://schemas.microsoft.com/office/drawing/2014/main" id="{514A355D-7B98-4036-A7DE-3EEB29117FCA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698056228"/>
              </p:ext>
            </p:extLst>
          </p:nvPr>
        </p:nvGraphicFramePr>
        <p:xfrm>
          <a:off x="1919288" y="1341438"/>
          <a:ext cx="8229600" cy="1554480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3573785567"/>
                    </a:ext>
                  </a:extLst>
                </a:gridCol>
              </a:tblGrid>
              <a:tr h="6048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Daten: Absorbanzen aus einen </a:t>
                      </a:r>
                      <a:r>
                        <a:rPr kumimoji="0" lang="de-DE" altLang="de-DE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Flüssigkeitschromatogramm</a:t>
                      </a:r>
                      <a:r>
                        <a:rPr kumimoji="0" lang="de-DE" altLang="de-D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bestimmt zu 30 verschiedenen Zeitpunkten (1s Zeitintervall) und für 28 verschiedene Wellenlängen (220…340).</a:t>
                      </a:r>
                      <a:endParaRPr kumimoji="0" lang="de-DE" altLang="de-D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b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1861387"/>
                  </a:ext>
                </a:extLst>
              </a:tr>
            </a:tbl>
          </a:graphicData>
        </a:graphic>
      </p:graphicFrame>
      <p:sp>
        <p:nvSpPr>
          <p:cNvPr id="11270" name="Text Box 6">
            <a:extLst>
              <a:ext uri="{FF2B5EF4-FFF2-40B4-BE49-F238E27FC236}">
                <a16:creationId xmlns:a16="http://schemas.microsoft.com/office/drawing/2014/main" id="{E00AB360-980F-468C-B2FE-94B7027FB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3475" y="5537201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de-DE" altLang="de-DE"/>
          </a:p>
        </p:txBody>
      </p:sp>
      <p:pic>
        <p:nvPicPr>
          <p:cNvPr id="11317" name="Picture 53">
            <a:extLst>
              <a:ext uri="{FF2B5EF4-FFF2-40B4-BE49-F238E27FC236}">
                <a16:creationId xmlns:a16="http://schemas.microsoft.com/office/drawing/2014/main" id="{E0FF62BB-2F52-40D4-BBA3-0546A94E49A3}"/>
              </a:ext>
            </a:extLst>
          </p:cNvPr>
          <p:cNvPicPr preferRelativeResize="0">
            <a:picLocks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" r="14287" b="46899"/>
          <a:stretch/>
        </p:blipFill>
        <p:spPr bwMode="auto">
          <a:xfrm>
            <a:off x="1895032" y="2996952"/>
            <a:ext cx="8665464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FADDD84E-3A83-4665-8D17-F8CBCF1792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6312" y="222937"/>
            <a:ext cx="9299376" cy="811485"/>
          </a:xfrm>
          <a:noFill/>
          <a:ln/>
        </p:spPr>
        <p:txBody>
          <a:bodyPr>
            <a:normAutofit fontScale="90000"/>
          </a:bodyPr>
          <a:lstStyle/>
          <a:p>
            <a:pPr algn="ctr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</a:t>
            </a:r>
            <a:br>
              <a:rPr lang="de-DE" alt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altLang="de-DE" sz="3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Beispiel Chromatogramm – Faktorladungsmatrix original</a:t>
            </a:r>
            <a:endParaRPr lang="de-DE" altLang="de-DE" sz="3100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63" name="Text Box 3">
            <a:extLst>
              <a:ext uri="{FF2B5EF4-FFF2-40B4-BE49-F238E27FC236}">
                <a16:creationId xmlns:a16="http://schemas.microsoft.com/office/drawing/2014/main" id="{30528811-2EBF-4132-8496-A1AE64FEE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3475" y="5537201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de-DE" altLang="de-DE"/>
          </a:p>
        </p:txBody>
      </p:sp>
      <p:sp>
        <p:nvSpPr>
          <p:cNvPr id="41467" name="Rectangle 507">
            <a:extLst>
              <a:ext uri="{FF2B5EF4-FFF2-40B4-BE49-F238E27FC236}">
                <a16:creationId xmlns:a16="http://schemas.microsoft.com/office/drawing/2014/main" id="{E4A293AB-9EA8-463F-AC48-4F5639A07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4" y="6773863"/>
            <a:ext cx="204787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de-DE" altLang="de-DE" sz="600"/>
              <a:t> </a:t>
            </a:r>
            <a:endParaRPr lang="de-DE" altLang="de-DE"/>
          </a:p>
        </p:txBody>
      </p:sp>
      <p:sp>
        <p:nvSpPr>
          <p:cNvPr id="41938" name="Rectangle 978">
            <a:extLst>
              <a:ext uri="{FF2B5EF4-FFF2-40B4-BE49-F238E27FC236}">
                <a16:creationId xmlns:a16="http://schemas.microsoft.com/office/drawing/2014/main" id="{382BF44F-F96F-4C91-B801-55AE288C8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975" y="5673725"/>
            <a:ext cx="204788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de-DE" altLang="de-DE" sz="600"/>
              <a:t> </a:t>
            </a:r>
            <a:endParaRPr lang="de-DE" altLang="de-DE"/>
          </a:p>
        </p:txBody>
      </p:sp>
      <p:graphicFrame>
        <p:nvGraphicFramePr>
          <p:cNvPr id="5" name="Objekt 4">
            <a:extLst>
              <a:ext uri="{FF2B5EF4-FFF2-40B4-BE49-F238E27FC236}">
                <a16:creationId xmlns:a16="http://schemas.microsoft.com/office/drawing/2014/main" id="{63929422-D6A4-483D-8E9D-0456136678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489897"/>
              </p:ext>
            </p:extLst>
          </p:nvPr>
        </p:nvGraphicFramePr>
        <p:xfrm>
          <a:off x="666751" y="1535977"/>
          <a:ext cx="5943600" cy="445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Grafik" r:id="rId3" imgW="5943600" imgH="4457880" progId="STATISTICA.Grafik">
                  <p:embed/>
                </p:oleObj>
              </mc:Choice>
              <mc:Fallback>
                <p:oleObj name="Grafik" r:id="rId3" imgW="5943600" imgH="4457880" progId="STATISTICA.Grafik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6751" y="1535977"/>
                        <a:ext cx="5943600" cy="445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F1682F86-1B9C-4DAB-A936-A9765F5C3437}"/>
              </a:ext>
            </a:extLst>
          </p:cNvPr>
          <p:cNvSpPr txBox="1"/>
          <p:nvPr/>
        </p:nvSpPr>
        <p:spPr>
          <a:xfrm>
            <a:off x="2999656" y="1129079"/>
            <a:ext cx="13821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/>
              <a:t>Scree-Plot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9DCE8BB9-5DBE-48AC-8D68-C688E48B1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977930"/>
              </p:ext>
            </p:extLst>
          </p:nvPr>
        </p:nvGraphicFramePr>
        <p:xfrm>
          <a:off x="6023992" y="1196752"/>
          <a:ext cx="4392490" cy="454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89951229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664631331"/>
                    </a:ext>
                  </a:extLst>
                </a:gridCol>
                <a:gridCol w="1051318">
                  <a:extLst>
                    <a:ext uri="{9D8B030D-6E8A-4147-A177-3AD203B41FA5}">
                      <a16:colId xmlns:a16="http://schemas.microsoft.com/office/drawing/2014/main" val="366656778"/>
                    </a:ext>
                  </a:extLst>
                </a:gridCol>
                <a:gridCol w="878498">
                  <a:extLst>
                    <a:ext uri="{9D8B030D-6E8A-4147-A177-3AD203B41FA5}">
                      <a16:colId xmlns:a16="http://schemas.microsoft.com/office/drawing/2014/main" val="444714998"/>
                    </a:ext>
                  </a:extLst>
                </a:gridCol>
                <a:gridCol w="878498">
                  <a:extLst>
                    <a:ext uri="{9D8B030D-6E8A-4147-A177-3AD203B41FA5}">
                      <a16:colId xmlns:a16="http://schemas.microsoft.com/office/drawing/2014/main" val="811473288"/>
                    </a:ext>
                  </a:extLst>
                </a:gridCol>
              </a:tblGrid>
              <a:tr h="505500">
                <a:tc rowSpan="2">
                  <a:txBody>
                    <a:bodyPr/>
                    <a:lstStyle/>
                    <a:p>
                      <a:pPr algn="l" fontAlgn="b"/>
                      <a:r>
                        <a:rPr lang="de-DE" sz="1600" u="none" strike="noStrike">
                          <a:effectLst/>
                        </a:rPr>
                        <a:t> Nr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 gridSpan="4">
                  <a:txBody>
                    <a:bodyPr/>
                    <a:lstStyle/>
                    <a:p>
                      <a:pPr algn="l" fontAlgn="t"/>
                      <a:r>
                        <a:rPr lang="de-DE" sz="1600" u="none" strike="noStrike">
                          <a:effectLst/>
                        </a:rPr>
                        <a:t>Eigenwerte der Korrelationsmatrix und Statistiken (chromatogramm.sta)</a:t>
                      </a:r>
                      <a:br>
                        <a:rPr lang="de-DE" sz="1600" u="none" strike="noStrike">
                          <a:effectLst/>
                        </a:rPr>
                      </a:br>
                      <a:r>
                        <a:rPr lang="de-DE" sz="1600" u="none" strike="noStrike">
                          <a:effectLst/>
                        </a:rPr>
                        <a:t>nur aktive Variablen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59466"/>
                  </a:ext>
                </a:extLst>
              </a:tr>
              <a:tr h="206327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600" u="none" strike="noStrike">
                          <a:effectLst/>
                        </a:rPr>
                        <a:t>Eigenwert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600" u="none" strike="noStrike">
                          <a:effectLst/>
                        </a:rPr>
                        <a:t>% Gesamt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600" u="none" strike="noStrike">
                          <a:effectLst/>
                        </a:rPr>
                        <a:t>Kumul.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600" u="none" strike="noStrike">
                          <a:effectLst/>
                        </a:rPr>
                        <a:t>Kumul%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60363844"/>
                  </a:ext>
                </a:extLst>
              </a:tr>
              <a:tr h="206327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u="none" strike="noStrike">
                          <a:effectLst/>
                        </a:rPr>
                        <a:t>1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23.92745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85.45518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23.92745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85.4552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8363964"/>
                  </a:ext>
                </a:extLst>
              </a:tr>
              <a:tr h="206327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u="none" strike="noStrike">
                          <a:effectLst/>
                        </a:rPr>
                        <a:t>2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4.02461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14.37360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27.95206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99.8288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37665832"/>
                  </a:ext>
                </a:extLst>
              </a:tr>
              <a:tr h="206327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u="none" strike="noStrike">
                          <a:effectLst/>
                        </a:rPr>
                        <a:t>3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0.03828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0.13672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27.99034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99.9655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75634356"/>
                  </a:ext>
                </a:extLst>
              </a:tr>
              <a:tr h="206327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u="none" strike="noStrike">
                          <a:effectLst/>
                        </a:rPr>
                        <a:t>4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0.00797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0.02847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27.99831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99.9940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28022726"/>
                  </a:ext>
                </a:extLst>
              </a:tr>
              <a:tr h="206327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u="none" strike="noStrike">
                          <a:effectLst/>
                        </a:rPr>
                        <a:t>5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0.00101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0.00362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27.99933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99.9976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41320724"/>
                  </a:ext>
                </a:extLst>
              </a:tr>
              <a:tr h="206327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u="none" strike="noStrike">
                          <a:effectLst/>
                        </a:rPr>
                        <a:t>6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0.00035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0.00123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27.99967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99.9988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713701"/>
                  </a:ext>
                </a:extLst>
              </a:tr>
              <a:tr h="206327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u="none" strike="noStrike">
                          <a:effectLst/>
                        </a:rPr>
                        <a:t>7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0.00018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0.00063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27.99985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99.9995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61543108"/>
                  </a:ext>
                </a:extLst>
              </a:tr>
              <a:tr h="206327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u="none" strike="noStrike">
                          <a:effectLst/>
                        </a:rPr>
                        <a:t>8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0.00004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0.00015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27.99989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99.9996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6102260"/>
                  </a:ext>
                </a:extLst>
              </a:tr>
              <a:tr h="206327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u="none" strike="noStrike">
                          <a:effectLst/>
                        </a:rPr>
                        <a:t>9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0.00003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0.00011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27.99992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99.9997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8727453"/>
                  </a:ext>
                </a:extLst>
              </a:tr>
              <a:tr h="206327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u="none" strike="noStrike">
                          <a:effectLst/>
                        </a:rPr>
                        <a:t>10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0.00002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0.00007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27.99994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99.9998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6683770"/>
                  </a:ext>
                </a:extLst>
              </a:tr>
              <a:tr h="206327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u="none" strike="noStrike">
                          <a:effectLst/>
                        </a:rPr>
                        <a:t>11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0.00001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0.00004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27.99995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99.9998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23366392"/>
                  </a:ext>
                </a:extLst>
              </a:tr>
              <a:tr h="206327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u="none" strike="noStrike">
                          <a:effectLst/>
                        </a:rPr>
                        <a:t>12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0.00001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0.00004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27.99996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99.9999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7472762"/>
                  </a:ext>
                </a:extLst>
              </a:tr>
              <a:tr h="206327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u="none" strike="noStrike">
                          <a:effectLst/>
                        </a:rPr>
                        <a:t>13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0.00001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0.00003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27.99997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99.9999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17122997"/>
                  </a:ext>
                </a:extLst>
              </a:tr>
              <a:tr h="206327">
                <a:tc>
                  <a:txBody>
                    <a:bodyPr/>
                    <a:lstStyle/>
                    <a:p>
                      <a:pPr algn="l" fontAlgn="ctr"/>
                      <a:r>
                        <a:rPr lang="de-DE" sz="1600" u="none" strike="noStrike">
                          <a:effectLst/>
                        </a:rPr>
                        <a:t>14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0.00001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0.00003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27.99998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de-DE" sz="1600" u="none" strike="noStrike">
                          <a:effectLst/>
                        </a:rPr>
                        <a:t>99.9999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234561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Text Box 3">
            <a:extLst>
              <a:ext uri="{FF2B5EF4-FFF2-40B4-BE49-F238E27FC236}">
                <a16:creationId xmlns:a16="http://schemas.microsoft.com/office/drawing/2014/main" id="{30528811-2EBF-4132-8496-A1AE64FEE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3475" y="5537201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de-DE" altLang="de-DE"/>
          </a:p>
        </p:txBody>
      </p:sp>
      <p:sp>
        <p:nvSpPr>
          <p:cNvPr id="41467" name="Rectangle 507">
            <a:extLst>
              <a:ext uri="{FF2B5EF4-FFF2-40B4-BE49-F238E27FC236}">
                <a16:creationId xmlns:a16="http://schemas.microsoft.com/office/drawing/2014/main" id="{E4A293AB-9EA8-463F-AC48-4F5639A07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4" y="6773863"/>
            <a:ext cx="204787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de-DE" altLang="de-DE" sz="600"/>
              <a:t> </a:t>
            </a:r>
            <a:endParaRPr lang="de-DE" altLang="de-DE"/>
          </a:p>
        </p:txBody>
      </p:sp>
      <p:sp>
        <p:nvSpPr>
          <p:cNvPr id="41938" name="Rectangle 978">
            <a:extLst>
              <a:ext uri="{FF2B5EF4-FFF2-40B4-BE49-F238E27FC236}">
                <a16:creationId xmlns:a16="http://schemas.microsoft.com/office/drawing/2014/main" id="{382BF44F-F96F-4C91-B801-55AE288C8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975" y="5673725"/>
            <a:ext cx="204788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de-DE" altLang="de-DE" sz="600"/>
              <a:t> </a:t>
            </a:r>
            <a:endParaRPr lang="de-DE" altLang="de-DE"/>
          </a:p>
        </p:txBody>
      </p:sp>
      <p:graphicFrame>
        <p:nvGraphicFramePr>
          <p:cNvPr id="2" name="Objekt 1">
            <a:extLst>
              <a:ext uri="{FF2B5EF4-FFF2-40B4-BE49-F238E27FC236}">
                <a16:creationId xmlns:a16="http://schemas.microsoft.com/office/drawing/2014/main" id="{DC0C208D-8B3A-43AE-A1F9-CA0FC4D746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687874"/>
              </p:ext>
            </p:extLst>
          </p:nvPr>
        </p:nvGraphicFramePr>
        <p:xfrm>
          <a:off x="3124200" y="1870928"/>
          <a:ext cx="5943600" cy="445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Grafik" r:id="rId3" imgW="5943600" imgH="4457880" progId="STATISTICA.Grafik">
                  <p:embed/>
                </p:oleObj>
              </mc:Choice>
              <mc:Fallback>
                <p:oleObj name="Grafik" r:id="rId3" imgW="5943600" imgH="4457880" progId="STATISTICA.Grafik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24200" y="1870928"/>
                        <a:ext cx="5943600" cy="445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F1682F86-1B9C-4DAB-A936-A9765F5C3437}"/>
              </a:ext>
            </a:extLst>
          </p:cNvPr>
          <p:cNvSpPr txBox="1"/>
          <p:nvPr/>
        </p:nvSpPr>
        <p:spPr>
          <a:xfrm>
            <a:off x="3124200" y="1348184"/>
            <a:ext cx="627569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Projektion der Variablen auf die Faktorebene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957EC65-A10B-4DAA-9FBE-46E8BC073A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6312" y="222937"/>
            <a:ext cx="9299376" cy="811485"/>
          </a:xfrm>
          <a:noFill/>
          <a:ln/>
        </p:spPr>
        <p:txBody>
          <a:bodyPr>
            <a:normAutofit fontScale="90000"/>
          </a:bodyPr>
          <a:lstStyle/>
          <a:p>
            <a:pPr algn="ctr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</a:t>
            </a:r>
            <a:br>
              <a:rPr lang="de-DE" alt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altLang="de-DE" sz="3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Beispiel Chromatogramm – Faktorladungsmatrix original</a:t>
            </a:r>
            <a:endParaRPr lang="de-DE" altLang="de-DE" sz="3100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654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Text Box 3">
            <a:extLst>
              <a:ext uri="{FF2B5EF4-FFF2-40B4-BE49-F238E27FC236}">
                <a16:creationId xmlns:a16="http://schemas.microsoft.com/office/drawing/2014/main" id="{30528811-2EBF-4132-8496-A1AE64FEE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3475" y="5537201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de-DE" altLang="de-DE"/>
          </a:p>
        </p:txBody>
      </p:sp>
      <p:sp>
        <p:nvSpPr>
          <p:cNvPr id="41467" name="Rectangle 507">
            <a:extLst>
              <a:ext uri="{FF2B5EF4-FFF2-40B4-BE49-F238E27FC236}">
                <a16:creationId xmlns:a16="http://schemas.microsoft.com/office/drawing/2014/main" id="{E4A293AB-9EA8-463F-AC48-4F5639A07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4" y="6773863"/>
            <a:ext cx="204787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de-DE" altLang="de-DE" sz="600"/>
              <a:t> </a:t>
            </a:r>
            <a:endParaRPr lang="de-DE" altLang="de-DE"/>
          </a:p>
        </p:txBody>
      </p:sp>
      <p:sp>
        <p:nvSpPr>
          <p:cNvPr id="41938" name="Rectangle 978">
            <a:extLst>
              <a:ext uri="{FF2B5EF4-FFF2-40B4-BE49-F238E27FC236}">
                <a16:creationId xmlns:a16="http://schemas.microsoft.com/office/drawing/2014/main" id="{382BF44F-F96F-4C91-B801-55AE288C8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975" y="5673725"/>
            <a:ext cx="204788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de-DE" altLang="de-DE" sz="600"/>
              <a:t> </a:t>
            </a:r>
            <a:endParaRPr lang="de-DE" alt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1682F86-1B9C-4DAB-A936-A9765F5C3437}"/>
              </a:ext>
            </a:extLst>
          </p:cNvPr>
          <p:cNvSpPr txBox="1"/>
          <p:nvPr/>
        </p:nvSpPr>
        <p:spPr>
          <a:xfrm>
            <a:off x="4967449" y="1147700"/>
            <a:ext cx="5147563" cy="132343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2800" dirty="0">
                <a:latin typeface="Arial" panose="020B0604020202020204" pitchFamily="34" charset="0"/>
                <a:cs typeface="Arial" panose="020B0604020202020204" pitchFamily="34" charset="0"/>
              </a:rPr>
              <a:t>Kommunalitäten</a:t>
            </a:r>
          </a:p>
          <a:p>
            <a:endParaRPr lang="de-DE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Beschreibung mit 2 Faktoren perfekt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957EC65-A10B-4DAA-9FBE-46E8BC073A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6312" y="222937"/>
            <a:ext cx="9299376" cy="811485"/>
          </a:xfrm>
          <a:noFill/>
          <a:ln/>
        </p:spPr>
        <p:txBody>
          <a:bodyPr>
            <a:normAutofit fontScale="90000"/>
          </a:bodyPr>
          <a:lstStyle/>
          <a:p>
            <a:pPr algn="ctr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</a:t>
            </a:r>
            <a:br>
              <a:rPr lang="de-DE" alt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altLang="de-DE" sz="3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Beispiel Chromatogramm – Faktorladungsmatrix original</a:t>
            </a:r>
            <a:endParaRPr lang="de-DE" altLang="de-DE" sz="3100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6A729CD-B6A6-4102-9283-408772542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1124744"/>
            <a:ext cx="3096344" cy="556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794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599" name="Group 639">
            <a:extLst>
              <a:ext uri="{FF2B5EF4-FFF2-40B4-BE49-F238E27FC236}">
                <a16:creationId xmlns:a16="http://schemas.microsoft.com/office/drawing/2014/main" id="{C08A18AC-2AAA-4717-AB6E-A0B16B255DA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52536242"/>
              </p:ext>
            </p:extLst>
          </p:nvPr>
        </p:nvGraphicFramePr>
        <p:xfrm>
          <a:off x="5303839" y="1484313"/>
          <a:ext cx="2808287" cy="3962400"/>
        </p:xfrm>
        <a:graphic>
          <a:graphicData uri="http://schemas.openxmlformats.org/drawingml/2006/table">
            <a:tbl>
              <a:tblPr/>
              <a:tblGrid>
                <a:gridCol w="749300">
                  <a:extLst>
                    <a:ext uri="{9D8B030D-6E8A-4147-A177-3AD203B41FA5}">
                      <a16:colId xmlns:a16="http://schemas.microsoft.com/office/drawing/2014/main" val="2541560430"/>
                    </a:ext>
                  </a:extLst>
                </a:gridCol>
                <a:gridCol w="1030287">
                  <a:extLst>
                    <a:ext uri="{9D8B030D-6E8A-4147-A177-3AD203B41FA5}">
                      <a16:colId xmlns:a16="http://schemas.microsoft.com/office/drawing/2014/main" val="200162402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912326430"/>
                    </a:ext>
                  </a:extLst>
                </a:gridCol>
              </a:tblGrid>
              <a:tr h="174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Faktor 1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Faktor 2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734384"/>
                  </a:ext>
                </a:extLst>
              </a:tr>
              <a:tr h="174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wl296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-0.034380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0.141263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851206"/>
                  </a:ext>
                </a:extLst>
              </a:tr>
              <a:tr h="173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wl301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-0.033338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0.149834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376813"/>
                  </a:ext>
                </a:extLst>
              </a:tr>
              <a:tr h="174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wl306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-0.035289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0.133111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2065552"/>
                  </a:ext>
                </a:extLst>
              </a:tr>
              <a:tr h="174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wl310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-0.038489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0.096831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890400"/>
                  </a:ext>
                </a:extLst>
              </a:tr>
              <a:tr h="173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wl315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-0.041292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0.038330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538233"/>
                  </a:ext>
                </a:extLst>
              </a:tr>
              <a:tr h="174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wl320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-0.041016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-0.047578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419728"/>
                  </a:ext>
                </a:extLst>
              </a:tr>
              <a:tr h="174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wl325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-0.037990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-0.103464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544935"/>
                  </a:ext>
                </a:extLst>
              </a:tr>
              <a:tr h="173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wl329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-0.036596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-0.119930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557458"/>
                  </a:ext>
                </a:extLst>
              </a:tr>
              <a:tr h="174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wl334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-0.036226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-0.123777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269577"/>
                  </a:ext>
                </a:extLst>
              </a:tr>
              <a:tr h="174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wl339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-0.036384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-0.121934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549628"/>
                  </a:ext>
                </a:extLst>
              </a:tr>
              <a:tr h="1730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wl344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-0.036866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-0.115059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941103"/>
                  </a:ext>
                </a:extLst>
              </a:tr>
              <a:tr h="174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wl349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-0.038537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-0.083881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492431"/>
                  </a:ext>
                </a:extLst>
              </a:tr>
            </a:tbl>
          </a:graphicData>
        </a:graphic>
      </p:graphicFrame>
      <p:sp>
        <p:nvSpPr>
          <p:cNvPr id="40963" name="Text Box 3">
            <a:extLst>
              <a:ext uri="{FF2B5EF4-FFF2-40B4-BE49-F238E27FC236}">
                <a16:creationId xmlns:a16="http://schemas.microsoft.com/office/drawing/2014/main" id="{30528811-2EBF-4132-8496-A1AE64FEE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3475" y="5537201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de-DE" altLang="de-DE"/>
          </a:p>
        </p:txBody>
      </p:sp>
      <p:sp>
        <p:nvSpPr>
          <p:cNvPr id="41467" name="Rectangle 507">
            <a:extLst>
              <a:ext uri="{FF2B5EF4-FFF2-40B4-BE49-F238E27FC236}">
                <a16:creationId xmlns:a16="http://schemas.microsoft.com/office/drawing/2014/main" id="{E4A293AB-9EA8-463F-AC48-4F5639A07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4" y="6773863"/>
            <a:ext cx="204787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de-DE" altLang="de-DE" sz="600"/>
              <a:t> </a:t>
            </a:r>
            <a:endParaRPr lang="de-DE" altLang="de-DE"/>
          </a:p>
        </p:txBody>
      </p:sp>
      <p:graphicFrame>
        <p:nvGraphicFramePr>
          <p:cNvPr id="41939" name="Group 979">
            <a:extLst>
              <a:ext uri="{FF2B5EF4-FFF2-40B4-BE49-F238E27FC236}">
                <a16:creationId xmlns:a16="http://schemas.microsoft.com/office/drawing/2014/main" id="{95D7BCBE-B51E-4496-AD15-E6E871250E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472631"/>
              </p:ext>
            </p:extLst>
          </p:nvPr>
        </p:nvGraphicFramePr>
        <p:xfrm>
          <a:off x="2063751" y="1484313"/>
          <a:ext cx="2879725" cy="5181600"/>
        </p:xfrm>
        <a:graphic>
          <a:graphicData uri="http://schemas.openxmlformats.org/drawingml/2006/table">
            <a:tbl>
              <a:tblPr/>
              <a:tblGrid>
                <a:gridCol w="746125">
                  <a:extLst>
                    <a:ext uri="{9D8B030D-6E8A-4147-A177-3AD203B41FA5}">
                      <a16:colId xmlns:a16="http://schemas.microsoft.com/office/drawing/2014/main" val="402687598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88122504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4063925577"/>
                    </a:ext>
                  </a:extLst>
                </a:gridCol>
              </a:tblGrid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Faktor 1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Faktor 2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363455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wl220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-0.92250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0.385564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761938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wl225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-0.86030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0.509710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778290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wl230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-0.89931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0.437296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948073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wl234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-0.98748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-0.157388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836399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wl239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-0.89754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-0.440656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07120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wl244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-0.89407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-0.447633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367994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wl249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-0.91476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-0.403671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46658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wl253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-0.96020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-0.278917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617657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wl258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-0.99786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-0.064363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655503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wl263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-0.99927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0.037043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303475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wl268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-0.99893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0.045302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443823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wl272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-0.99822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0.058893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91029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wl277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-0.99467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0.102829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518184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wl282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-0.98307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0.183154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073965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wl287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-0.95101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0.309131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122681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wl291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-0.89207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0.451880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121574"/>
                  </a:ext>
                </a:extLst>
              </a:tr>
            </a:tbl>
          </a:graphicData>
        </a:graphic>
      </p:graphicFrame>
      <p:sp>
        <p:nvSpPr>
          <p:cNvPr id="41938" name="Rectangle 978">
            <a:extLst>
              <a:ext uri="{FF2B5EF4-FFF2-40B4-BE49-F238E27FC236}">
                <a16:creationId xmlns:a16="http://schemas.microsoft.com/office/drawing/2014/main" id="{382BF44F-F96F-4C91-B801-55AE288C8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975" y="5673725"/>
            <a:ext cx="204788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de-DE" altLang="de-DE" sz="600"/>
              <a:t> </a:t>
            </a:r>
            <a:endParaRPr lang="de-DE" altLang="de-DE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F4FCBB3-0EA6-4A7E-8CFE-7FD3FC41A4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6312" y="222937"/>
            <a:ext cx="9299376" cy="811485"/>
          </a:xfrm>
          <a:noFill/>
          <a:ln/>
        </p:spPr>
        <p:txBody>
          <a:bodyPr>
            <a:normAutofit fontScale="90000"/>
          </a:bodyPr>
          <a:lstStyle/>
          <a:p>
            <a:pPr algn="ctr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</a:t>
            </a:r>
            <a:br>
              <a:rPr lang="de-DE" alt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altLang="de-DE" sz="3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Beispiel Chromatogramm – Faktorladungsmatrix original</a:t>
            </a:r>
            <a:endParaRPr lang="de-DE" altLang="de-DE" sz="3100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24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ABBD2E94-95B0-4823-86A3-631BD4BD6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239713"/>
            <a:ext cx="10210800" cy="850900"/>
          </a:xfrm>
          <a:noFill/>
          <a:ln/>
        </p:spPr>
        <p:txBody>
          <a:bodyPr>
            <a:normAutofit fontScale="90000"/>
          </a:bodyPr>
          <a:lstStyle/>
          <a:p>
            <a:pPr algn="ctr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</a:t>
            </a:r>
            <a:br>
              <a:rPr lang="de-DE" altLang="de-DE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altLang="de-DE" sz="3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Beispiel Chromatogramm – Faktorladungsmatrix nach </a:t>
            </a:r>
            <a:r>
              <a:rPr lang="de-DE" altLang="de-DE" sz="31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Varimax</a:t>
            </a:r>
            <a:endParaRPr lang="de-DE" altLang="de-DE" sz="3100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011" name="Text Box 3">
            <a:extLst>
              <a:ext uri="{FF2B5EF4-FFF2-40B4-BE49-F238E27FC236}">
                <a16:creationId xmlns:a16="http://schemas.microsoft.com/office/drawing/2014/main" id="{420C2CAB-11B9-45A8-B8E2-C878CFD5F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3475" y="5537201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de-DE" altLang="de-DE"/>
          </a:p>
        </p:txBody>
      </p:sp>
      <p:sp>
        <p:nvSpPr>
          <p:cNvPr id="43074" name="Rectangle 66">
            <a:extLst>
              <a:ext uri="{FF2B5EF4-FFF2-40B4-BE49-F238E27FC236}">
                <a16:creationId xmlns:a16="http://schemas.microsoft.com/office/drawing/2014/main" id="{46215109-4C29-47A4-AF33-8F85C1F36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4" y="6773863"/>
            <a:ext cx="204787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de-DE" altLang="de-DE" sz="600"/>
              <a:t> </a:t>
            </a:r>
            <a:endParaRPr lang="de-DE" altLang="de-DE"/>
          </a:p>
        </p:txBody>
      </p:sp>
      <p:graphicFrame>
        <p:nvGraphicFramePr>
          <p:cNvPr id="43768" name="Group 760">
            <a:extLst>
              <a:ext uri="{FF2B5EF4-FFF2-40B4-BE49-F238E27FC236}">
                <a16:creationId xmlns:a16="http://schemas.microsoft.com/office/drawing/2014/main" id="{2C060F4A-267D-4AAF-8823-AEE19289D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043347"/>
              </p:ext>
            </p:extLst>
          </p:nvPr>
        </p:nvGraphicFramePr>
        <p:xfrm>
          <a:off x="5519738" y="1341438"/>
          <a:ext cx="2881312" cy="3962400"/>
        </p:xfrm>
        <a:graphic>
          <a:graphicData uri="http://schemas.openxmlformats.org/drawingml/2006/table">
            <a:tbl>
              <a:tblPr/>
              <a:tblGrid>
                <a:gridCol w="746125">
                  <a:extLst>
                    <a:ext uri="{9D8B030D-6E8A-4147-A177-3AD203B41FA5}">
                      <a16:colId xmlns:a16="http://schemas.microsoft.com/office/drawing/2014/main" val="191463078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908103477"/>
                    </a:ext>
                  </a:extLst>
                </a:gridCol>
                <a:gridCol w="1068387">
                  <a:extLst>
                    <a:ext uri="{9D8B030D-6E8A-4147-A177-3AD203B41FA5}">
                      <a16:colId xmlns:a16="http://schemas.microsoft.com/office/drawing/2014/main" val="1945837691"/>
                    </a:ext>
                  </a:extLst>
                </a:gridCol>
              </a:tblGrid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Faktor 1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Faktor 2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222712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wl296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0.20063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0.97963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110952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wl301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0.15878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0.98730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93034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wl306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0.23905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0.97100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661007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wl310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0.39534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0.91853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5607987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wl315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0.60666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0.79493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478099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wl320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0.84110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0.54073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645515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wl325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0.94443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0.32823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808744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wl329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0.96619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0.25730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038323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wl334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0.97051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0.24000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516238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wl339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0.96811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0.24797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6565554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wl344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0.95730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0.27593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013101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wl349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0.89935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0.39420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328888"/>
                  </a:ext>
                </a:extLst>
              </a:tr>
            </a:tbl>
          </a:graphicData>
        </a:graphic>
      </p:graphicFrame>
      <p:sp>
        <p:nvSpPr>
          <p:cNvPr id="43573" name="Rectangle 565">
            <a:extLst>
              <a:ext uri="{FF2B5EF4-FFF2-40B4-BE49-F238E27FC236}">
                <a16:creationId xmlns:a16="http://schemas.microsoft.com/office/drawing/2014/main" id="{7B290F39-EDBA-497D-B6EA-E8069A2D9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9" y="6407150"/>
            <a:ext cx="204787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de-DE" altLang="de-DE" sz="600"/>
              <a:t> </a:t>
            </a:r>
            <a:endParaRPr lang="de-DE" altLang="de-DE"/>
          </a:p>
        </p:txBody>
      </p:sp>
      <p:graphicFrame>
        <p:nvGraphicFramePr>
          <p:cNvPr id="45122" name="Group 1090">
            <a:extLst>
              <a:ext uri="{FF2B5EF4-FFF2-40B4-BE49-F238E27FC236}">
                <a16:creationId xmlns:a16="http://schemas.microsoft.com/office/drawing/2014/main" id="{C891C345-05B5-45A2-8AB4-DC342BB571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507543"/>
              </p:ext>
            </p:extLst>
          </p:nvPr>
        </p:nvGraphicFramePr>
        <p:xfrm>
          <a:off x="2279651" y="1341438"/>
          <a:ext cx="2879725" cy="5181600"/>
        </p:xfrm>
        <a:graphic>
          <a:graphicData uri="http://schemas.openxmlformats.org/drawingml/2006/table">
            <a:tbl>
              <a:tblPr/>
              <a:tblGrid>
                <a:gridCol w="746125">
                  <a:extLst>
                    <a:ext uri="{9D8B030D-6E8A-4147-A177-3AD203B41FA5}">
                      <a16:colId xmlns:a16="http://schemas.microsoft.com/office/drawing/2014/main" val="2267359859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01992784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340650216"/>
                    </a:ext>
                  </a:extLst>
                </a:gridCol>
              </a:tblGrid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Faktor 1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Faktor 2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726340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wl220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0.39934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0.91662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495315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wl225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0.26854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0.96323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8229314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wl230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0.34680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0.93793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901764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wl234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0.82189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0.56954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412162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wl239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0.95293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0.30278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535067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wl244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0.95525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0.29534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846178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wl249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0.93978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0.34141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588472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wl253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0.88628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0.46292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075513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wl258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0.76503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0.64389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040415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wl263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0.69589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0.71809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2809534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wl268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0.68993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0.72382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899834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wl272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0.68002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0.73314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15495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wl277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0.64705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0.76240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654514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wl282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0.58310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0.81238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451139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wl287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0.47280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0.88116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535820"/>
                  </a:ext>
                </a:extLst>
              </a:tr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wl291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0.33149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0.94346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05420"/>
                  </a:ext>
                </a:extLst>
              </a:tr>
            </a:tbl>
          </a:graphicData>
        </a:graphic>
      </p:graphicFrame>
      <p:sp>
        <p:nvSpPr>
          <p:cNvPr id="45121" name="Rectangle 1089">
            <a:extLst>
              <a:ext uri="{FF2B5EF4-FFF2-40B4-BE49-F238E27FC236}">
                <a16:creationId xmlns:a16="http://schemas.microsoft.com/office/drawing/2014/main" id="{47ED8619-D53C-492B-974E-536D771B5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9" y="5673725"/>
            <a:ext cx="204787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de-DE" altLang="de-DE" sz="600"/>
              <a:t> </a:t>
            </a:r>
            <a:endParaRPr lang="de-DE" altLang="de-D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6333EAEA-93AD-4956-A238-98F280C66A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16632"/>
            <a:ext cx="10515600" cy="883494"/>
          </a:xfrm>
          <a:noFill/>
          <a:ln/>
        </p:spPr>
        <p:txBody>
          <a:bodyPr>
            <a:normAutofit fontScale="90000"/>
          </a:bodyPr>
          <a:lstStyle/>
          <a:p>
            <a:pPr algn="ctr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</a:t>
            </a:r>
            <a:br>
              <a:rPr lang="de-DE" altLang="de-DE" sz="2800" b="1" dirty="0">
                <a:solidFill>
                  <a:srgbClr val="C00000"/>
                </a:solidFill>
              </a:rPr>
            </a:br>
            <a:r>
              <a:rPr lang="de-DE" alt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Beispiel Chromatogramm – Koeffizienten der Faktorwerte</a:t>
            </a:r>
            <a:endParaRPr lang="de-DE" altLang="de-DE" sz="2800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7552" name="Object 1472">
            <a:extLst>
              <a:ext uri="{FF2B5EF4-FFF2-40B4-BE49-F238E27FC236}">
                <a16:creationId xmlns:a16="http://schemas.microsoft.com/office/drawing/2014/main" id="{8D89F8F4-E2B5-4D9C-B825-F97C27FE911C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7513075"/>
              </p:ext>
            </p:extLst>
          </p:nvPr>
        </p:nvGraphicFramePr>
        <p:xfrm>
          <a:off x="5694992" y="5380688"/>
          <a:ext cx="3785383" cy="1009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Formel" r:id="rId3" imgW="1904760" imgH="507960" progId="Equation.3">
                  <p:embed/>
                </p:oleObj>
              </mc:Choice>
              <mc:Fallback>
                <p:oleObj name="Formel" r:id="rId3" imgW="1904760" imgH="507960" progId="Equation.3">
                  <p:embed/>
                  <p:pic>
                    <p:nvPicPr>
                      <p:cNvPr id="0" name="Object 14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4992" y="5380688"/>
                        <a:ext cx="3785383" cy="1009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3" name="Text Box 3">
            <a:extLst>
              <a:ext uri="{FF2B5EF4-FFF2-40B4-BE49-F238E27FC236}">
                <a16:creationId xmlns:a16="http://schemas.microsoft.com/office/drawing/2014/main" id="{A7E84705-D085-4A5B-9B06-C21C1E440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3475" y="5537201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de-DE" altLang="de-DE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B80253C2-4176-4A43-86FE-6EF32FE0D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4" y="6773863"/>
            <a:ext cx="204787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de-DE" altLang="de-DE" sz="600"/>
              <a:t> </a:t>
            </a:r>
            <a:endParaRPr lang="de-DE" altLang="de-DE"/>
          </a:p>
        </p:txBody>
      </p:sp>
      <p:sp>
        <p:nvSpPr>
          <p:cNvPr id="46144" name="Rectangle 64">
            <a:extLst>
              <a:ext uri="{FF2B5EF4-FFF2-40B4-BE49-F238E27FC236}">
                <a16:creationId xmlns:a16="http://schemas.microsoft.com/office/drawing/2014/main" id="{A968B75F-798A-4019-A9EB-CACBD7DDB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9" y="6407150"/>
            <a:ext cx="204787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de-DE" altLang="de-DE" sz="600"/>
              <a:t> </a:t>
            </a:r>
            <a:endParaRPr lang="de-DE" altLang="de-DE"/>
          </a:p>
        </p:txBody>
      </p:sp>
      <p:sp>
        <p:nvSpPr>
          <p:cNvPr id="46219" name="Rectangle 139">
            <a:extLst>
              <a:ext uri="{FF2B5EF4-FFF2-40B4-BE49-F238E27FC236}">
                <a16:creationId xmlns:a16="http://schemas.microsoft.com/office/drawing/2014/main" id="{399BCF26-C5E7-444B-B9B3-804589B26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9" y="5673725"/>
            <a:ext cx="204787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de-DE" altLang="de-DE" sz="600"/>
              <a:t> </a:t>
            </a:r>
            <a:endParaRPr lang="de-DE" altLang="de-DE"/>
          </a:p>
        </p:txBody>
      </p:sp>
      <p:graphicFrame>
        <p:nvGraphicFramePr>
          <p:cNvPr id="47296" name="Group 1216">
            <a:extLst>
              <a:ext uri="{FF2B5EF4-FFF2-40B4-BE49-F238E27FC236}">
                <a16:creationId xmlns:a16="http://schemas.microsoft.com/office/drawing/2014/main" id="{5CD35578-6F40-4766-88B1-298EEC408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976385"/>
              </p:ext>
            </p:extLst>
          </p:nvPr>
        </p:nvGraphicFramePr>
        <p:xfrm>
          <a:off x="1919288" y="1268413"/>
          <a:ext cx="3168650" cy="5181600"/>
        </p:xfrm>
        <a:graphic>
          <a:graphicData uri="http://schemas.openxmlformats.org/drawingml/2006/table">
            <a:tbl>
              <a:tblPr/>
              <a:tblGrid>
                <a:gridCol w="820737">
                  <a:extLst>
                    <a:ext uri="{9D8B030D-6E8A-4147-A177-3AD203B41FA5}">
                      <a16:colId xmlns:a16="http://schemas.microsoft.com/office/drawing/2014/main" val="1981117498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3069478666"/>
                    </a:ext>
                  </a:extLst>
                </a:gridCol>
                <a:gridCol w="1173163">
                  <a:extLst>
                    <a:ext uri="{9D8B030D-6E8A-4147-A177-3AD203B41FA5}">
                      <a16:colId xmlns:a16="http://schemas.microsoft.com/office/drawing/2014/main" val="1180858339"/>
                    </a:ext>
                  </a:extLst>
                </a:gridCol>
              </a:tblGrid>
              <a:tr h="244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Faktor 1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Faktor 2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425538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wl220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-0.038442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0.095846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669514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wl225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-0.061660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0.116321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6626461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wl230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-0.048035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0.104457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0395458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wl234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0.056854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0.000316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239285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wl239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0.102835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-0.053105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505712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wl244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0.103930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-0.054457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643253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wl249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0.096997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-0.045972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938782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wl253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0.076923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-0.022276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8554920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wl258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0.041176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0.017305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322334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wl263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0.023786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0.035539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721090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wl268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0.022357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0.037011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588196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wl272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0.019999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0.039429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219980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wl277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0.012339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0.047208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643705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wl282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-0.001819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0.061284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354493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wl287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-0.024443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0.082958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572681"/>
                  </a:ext>
                </a:extLst>
              </a:tr>
              <a:tr h="2444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wl291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-0.050760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0.106864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816871"/>
                  </a:ext>
                </a:extLst>
              </a:tr>
            </a:tbl>
          </a:graphicData>
        </a:graphic>
      </p:graphicFrame>
      <p:sp>
        <p:nvSpPr>
          <p:cNvPr id="47294" name="Rectangle 1214">
            <a:extLst>
              <a:ext uri="{FF2B5EF4-FFF2-40B4-BE49-F238E27FC236}">
                <a16:creationId xmlns:a16="http://schemas.microsoft.com/office/drawing/2014/main" id="{EDED2A4C-A39C-4A68-A835-74A3DA42B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375" y="5673725"/>
            <a:ext cx="204788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de-DE" altLang="de-DE" sz="600"/>
              <a:t> </a:t>
            </a:r>
            <a:endParaRPr lang="de-DE" altLang="de-DE"/>
          </a:p>
        </p:txBody>
      </p:sp>
      <p:graphicFrame>
        <p:nvGraphicFramePr>
          <p:cNvPr id="47550" name="Group 1470">
            <a:extLst>
              <a:ext uri="{FF2B5EF4-FFF2-40B4-BE49-F238E27FC236}">
                <a16:creationId xmlns:a16="http://schemas.microsoft.com/office/drawing/2014/main" id="{D1C6183D-A484-4010-8D72-F80D6427F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9653505"/>
              </p:ext>
            </p:extLst>
          </p:nvPr>
        </p:nvGraphicFramePr>
        <p:xfrm>
          <a:off x="5694993" y="1268413"/>
          <a:ext cx="3887787" cy="3962400"/>
        </p:xfrm>
        <a:graphic>
          <a:graphicData uri="http://schemas.openxmlformats.org/drawingml/2006/table">
            <a:tbl>
              <a:tblPr/>
              <a:tblGrid>
                <a:gridCol w="1006475">
                  <a:extLst>
                    <a:ext uri="{9D8B030D-6E8A-4147-A177-3AD203B41FA5}">
                      <a16:colId xmlns:a16="http://schemas.microsoft.com/office/drawing/2014/main" val="3131660410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1424239342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219066846"/>
                    </a:ext>
                  </a:extLst>
                </a:gridCol>
              </a:tblGrid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Faktor 1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Faktor 2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798875"/>
                  </a:ext>
                </a:extLst>
              </a:tr>
              <a:tr h="2206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wl296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-0.072909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0.125784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734692"/>
                  </a:ext>
                </a:extLst>
              </a:tr>
              <a:tr h="2222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wl301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-0.079591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0.131252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074959"/>
                  </a:ext>
                </a:extLst>
              </a:tr>
              <a:tr h="2206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wl306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-0.066612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0.120527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272814"/>
                  </a:ext>
                </a:extLst>
              </a:tr>
              <a:tr h="2222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wl310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-0.039202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0.096545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58003"/>
                  </a:ext>
                </a:extLst>
              </a:tr>
              <a:tr h="2222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wl315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0.003296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0.056244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418637"/>
                  </a:ext>
                </a:extLst>
              </a:tr>
              <a:tr h="2206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wl320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0.062532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-0.005976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436997"/>
                  </a:ext>
                </a:extLst>
              </a:tr>
              <a:tr h="2222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wl325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0.099012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-0.048422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343637"/>
                  </a:ext>
                </a:extLst>
              </a:tr>
              <a:tr h="2222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wl329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0.109397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-0.061276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012227"/>
                  </a:ext>
                </a:extLst>
              </a:tr>
              <a:tr h="2206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wl334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0.111791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-0.064310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936813"/>
                  </a:ext>
                </a:extLst>
              </a:tr>
              <a:tr h="2222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wl339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0.110631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-0.062870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555833"/>
                  </a:ext>
                </a:extLst>
              </a:tr>
              <a:tr h="2206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wl344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0.106223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-0.057572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932572"/>
                  </a:ext>
                </a:extLst>
              </a:tr>
              <a:tr h="2222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wl349</a:t>
                      </a: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0.085858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-0.033904</a:t>
                      </a:r>
                      <a:endParaRPr kumimoji="0" lang="de-DE" altLang="de-DE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16836"/>
                  </a:ext>
                </a:extLst>
              </a:tr>
            </a:tbl>
          </a:graphicData>
        </a:graphic>
      </p:graphicFrame>
      <p:sp>
        <p:nvSpPr>
          <p:cNvPr id="47546" name="Rectangle 1466">
            <a:extLst>
              <a:ext uri="{FF2B5EF4-FFF2-40B4-BE49-F238E27FC236}">
                <a16:creationId xmlns:a16="http://schemas.microsoft.com/office/drawing/2014/main" id="{B668C164-2CAC-48E2-8D29-0C47F53F8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375" y="5184775"/>
            <a:ext cx="204788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de-DE" altLang="de-DE" sz="600"/>
              <a:t> </a:t>
            </a:r>
            <a:endParaRPr lang="de-DE" altLang="de-DE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6333EAEA-93AD-4956-A238-98F280C66A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16632"/>
            <a:ext cx="10515600" cy="883494"/>
          </a:xfrm>
          <a:noFill/>
          <a:ln/>
        </p:spPr>
        <p:txBody>
          <a:bodyPr>
            <a:normAutofit fontScale="90000"/>
          </a:bodyPr>
          <a:lstStyle/>
          <a:p>
            <a:pPr algn="ctr"/>
            <a:r>
              <a:rPr lang="de-DE" altLang="de-DE" sz="3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Faktoranalyse</a:t>
            </a:r>
            <a:br>
              <a:rPr lang="de-DE" altLang="de-DE" sz="2800" b="1" dirty="0">
                <a:solidFill>
                  <a:srgbClr val="C00000"/>
                </a:solidFill>
              </a:rPr>
            </a:br>
            <a:r>
              <a:rPr lang="de-DE" altLang="de-DE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Beispiel Chromatogramm – </a:t>
            </a:r>
            <a:r>
              <a:rPr lang="de-DE" altLang="de-DE" sz="28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Faktorscores</a:t>
            </a:r>
            <a:endParaRPr lang="de-DE" altLang="de-DE" sz="2800" baseline="-25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083" name="Text Box 3">
            <a:extLst>
              <a:ext uri="{FF2B5EF4-FFF2-40B4-BE49-F238E27FC236}">
                <a16:creationId xmlns:a16="http://schemas.microsoft.com/office/drawing/2014/main" id="{A7E84705-D085-4A5B-9B06-C21C1E440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3475" y="5537201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de-DE" altLang="de-DE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B80253C2-4176-4A43-86FE-6EF32FE0D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764" y="6773863"/>
            <a:ext cx="204787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de-DE" altLang="de-DE" sz="600"/>
              <a:t> </a:t>
            </a:r>
            <a:endParaRPr lang="de-DE" altLang="de-DE"/>
          </a:p>
        </p:txBody>
      </p:sp>
      <p:sp>
        <p:nvSpPr>
          <p:cNvPr id="46144" name="Rectangle 64">
            <a:extLst>
              <a:ext uri="{FF2B5EF4-FFF2-40B4-BE49-F238E27FC236}">
                <a16:creationId xmlns:a16="http://schemas.microsoft.com/office/drawing/2014/main" id="{A968B75F-798A-4019-A9EB-CACBD7DDB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9" y="6407150"/>
            <a:ext cx="204787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de-DE" altLang="de-DE" sz="600"/>
              <a:t> </a:t>
            </a:r>
            <a:endParaRPr lang="de-DE" altLang="de-DE"/>
          </a:p>
        </p:txBody>
      </p:sp>
      <p:sp>
        <p:nvSpPr>
          <p:cNvPr id="46219" name="Rectangle 139">
            <a:extLst>
              <a:ext uri="{FF2B5EF4-FFF2-40B4-BE49-F238E27FC236}">
                <a16:creationId xmlns:a16="http://schemas.microsoft.com/office/drawing/2014/main" id="{399BCF26-C5E7-444B-B9B3-804589B26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589" y="5673725"/>
            <a:ext cx="204787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de-DE" altLang="de-DE" sz="600"/>
              <a:t> </a:t>
            </a:r>
            <a:endParaRPr lang="de-DE" altLang="de-DE"/>
          </a:p>
        </p:txBody>
      </p:sp>
      <p:graphicFrame>
        <p:nvGraphicFramePr>
          <p:cNvPr id="47296" name="Group 1216">
            <a:extLst>
              <a:ext uri="{FF2B5EF4-FFF2-40B4-BE49-F238E27FC236}">
                <a16:creationId xmlns:a16="http://schemas.microsoft.com/office/drawing/2014/main" id="{5CD35578-6F40-4766-88B1-298EEC408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397239"/>
              </p:ext>
            </p:extLst>
          </p:nvPr>
        </p:nvGraphicFramePr>
        <p:xfrm>
          <a:off x="1919288" y="1268413"/>
          <a:ext cx="3240608" cy="5314950"/>
        </p:xfrm>
        <a:graphic>
          <a:graphicData uri="http://schemas.openxmlformats.org/drawingml/2006/table">
            <a:tbl>
              <a:tblPr/>
              <a:tblGrid>
                <a:gridCol w="820737">
                  <a:extLst>
                    <a:ext uri="{9D8B030D-6E8A-4147-A177-3AD203B41FA5}">
                      <a16:colId xmlns:a16="http://schemas.microsoft.com/office/drawing/2014/main" val="1981117498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3069478666"/>
                    </a:ext>
                  </a:extLst>
                </a:gridCol>
                <a:gridCol w="1245121">
                  <a:extLst>
                    <a:ext uri="{9D8B030D-6E8A-4147-A177-3AD203B41FA5}">
                      <a16:colId xmlns:a16="http://schemas.microsoft.com/office/drawing/2014/main" val="1180858339"/>
                    </a:ext>
                  </a:extLst>
                </a:gridCol>
              </a:tblGrid>
              <a:tr h="244475">
                <a:tc rowSpan="2">
                  <a:txBody>
                    <a:bodyPr/>
                    <a:lstStyle/>
                    <a:p>
                      <a:pPr algn="l"/>
                      <a:br>
                        <a:rPr lang="de-DE" dirty="0"/>
                      </a:br>
                      <a:r>
                        <a:rPr lang="de-DE" dirty="0">
                          <a:latin typeface="Arial" panose="020B0604020202020204" pitchFamily="34" charset="0"/>
                        </a:rPr>
                        <a:t>Fall</a:t>
                      </a:r>
                      <a:endParaRPr lang="de-DE" dirty="0"/>
                    </a:p>
                  </a:txBody>
                  <a:tcPr marL="9525" marR="9525" marT="9525" marB="9525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de-DE" dirty="0">
                          <a:latin typeface="Arial" panose="020B0604020202020204" pitchFamily="34" charset="0"/>
                        </a:rPr>
                        <a:t>Faktorwerte (</a:t>
                      </a:r>
                      <a:r>
                        <a:rPr lang="de-DE" dirty="0" err="1">
                          <a:latin typeface="Arial" panose="020B0604020202020204" pitchFamily="34" charset="0"/>
                        </a:rPr>
                        <a:t>chromatogramm.sta</a:t>
                      </a:r>
                      <a:r>
                        <a:rPr lang="de-DE" dirty="0">
                          <a:latin typeface="Arial" panose="020B0604020202020204" pitchFamily="34" charset="0"/>
                        </a:rPr>
                        <a:t>) Rotation: </a:t>
                      </a:r>
                      <a:r>
                        <a:rPr lang="de-DE" dirty="0" err="1">
                          <a:latin typeface="Arial" panose="020B0604020202020204" pitchFamily="34" charset="0"/>
                        </a:rPr>
                        <a:t>Varimax</a:t>
                      </a:r>
                      <a:r>
                        <a:rPr lang="de-DE" dirty="0">
                          <a:latin typeface="Arial" panose="020B0604020202020204" pitchFamily="34" charset="0"/>
                        </a:rPr>
                        <a:t> (e)</a:t>
                      </a:r>
                      <a:endParaRPr lang="de-DE" dirty="0"/>
                    </a:p>
                  </a:txBody>
                  <a:tcPr marL="9525" marR="9525" marT="9525" marB="95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0425538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latin typeface="Arial" panose="020B0604020202020204" pitchFamily="34" charset="0"/>
                        </a:rPr>
                        <a:t>Faktor 1</a:t>
                      </a:r>
                      <a:endParaRPr lang="de-DE" b="1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latin typeface="Arial" panose="020B0604020202020204" pitchFamily="34" charset="0"/>
                        </a:rPr>
                        <a:t>Faktor 2</a:t>
                      </a:r>
                      <a:endParaRPr lang="de-DE" b="1" dirty="0"/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882417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r>
                        <a:rPr lang="de-DE">
                          <a:latin typeface="Arial" panose="020B0604020202020204" pitchFamily="34" charset="0"/>
                        </a:rPr>
                        <a:t>1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latin typeface="Arial" panose="020B0604020202020204" pitchFamily="34" charset="0"/>
                        </a:rPr>
                        <a:t>-0,538621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-1,13868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749971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</a:rPr>
                        <a:t>2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latin typeface="Arial" panose="020B0604020202020204" pitchFamily="34" charset="0"/>
                        </a:rPr>
                        <a:t>-0,341345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-1,10221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834379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</a:rPr>
                        <a:t>3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latin typeface="Arial" panose="020B0604020202020204" pitchFamily="34" charset="0"/>
                        </a:rPr>
                        <a:t>0,339807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-0,96930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28585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r>
                        <a:rPr lang="de-DE">
                          <a:latin typeface="Arial" panose="020B0604020202020204" pitchFamily="34" charset="0"/>
                        </a:rPr>
                        <a:t>4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latin typeface="Arial" panose="020B0604020202020204" pitchFamily="34" charset="0"/>
                        </a:rPr>
                        <a:t>1,605982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-0,76569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29929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r>
                        <a:rPr lang="de-DE">
                          <a:latin typeface="Arial" panose="020B0604020202020204" pitchFamily="34" charset="0"/>
                        </a:rPr>
                        <a:t>5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latin typeface="Arial" panose="020B0604020202020204" pitchFamily="34" charset="0"/>
                        </a:rPr>
                        <a:t>2,614860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-0,52689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60859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r>
                        <a:rPr lang="de-DE">
                          <a:latin typeface="Arial" panose="020B0604020202020204" pitchFamily="34" charset="0"/>
                        </a:rPr>
                        <a:t>6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latin typeface="Arial" panose="020B0604020202020204" pitchFamily="34" charset="0"/>
                        </a:rPr>
                        <a:t>2,836543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-0,32805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2117708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r>
                        <a:rPr lang="de-DE">
                          <a:latin typeface="Arial" panose="020B0604020202020204" pitchFamily="34" charset="0"/>
                        </a:rPr>
                        <a:t>7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latin typeface="Arial" panose="020B0604020202020204" pitchFamily="34" charset="0"/>
                        </a:rPr>
                        <a:t>2,181390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0,13844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21794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r>
                        <a:rPr lang="de-DE">
                          <a:latin typeface="Arial" panose="020B0604020202020204" pitchFamily="34" charset="0"/>
                        </a:rPr>
                        <a:t>8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latin typeface="Arial" panose="020B0604020202020204" pitchFamily="34" charset="0"/>
                        </a:rPr>
                        <a:t>1,290671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0,91887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084927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r>
                        <a:rPr lang="de-DE">
                          <a:latin typeface="Arial" panose="020B0604020202020204" pitchFamily="34" charset="0"/>
                        </a:rPr>
                        <a:t>9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latin typeface="Arial" panose="020B0604020202020204" pitchFamily="34" charset="0"/>
                        </a:rPr>
                        <a:t>0,529180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1,71613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1922928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r>
                        <a:rPr lang="de-DE">
                          <a:latin typeface="Arial" panose="020B0604020202020204" pitchFamily="34" charset="0"/>
                        </a:rPr>
                        <a:t>10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latin typeface="Arial" panose="020B0604020202020204" pitchFamily="34" charset="0"/>
                        </a:rPr>
                        <a:t>-0,039426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2,16419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85379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r>
                        <a:rPr lang="de-DE">
                          <a:latin typeface="Arial" panose="020B0604020202020204" pitchFamily="34" charset="0"/>
                        </a:rPr>
                        <a:t>11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latin typeface="Arial" panose="020B0604020202020204" pitchFamily="34" charset="0"/>
                        </a:rPr>
                        <a:t>-0,320604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2,14534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863597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r>
                        <a:rPr lang="de-DE">
                          <a:latin typeface="Arial" panose="020B0604020202020204" pitchFamily="34" charset="0"/>
                        </a:rPr>
                        <a:t>12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latin typeface="Arial" panose="020B0604020202020204" pitchFamily="34" charset="0"/>
                        </a:rPr>
                        <a:t>-0,459003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1,84976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394865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r>
                        <a:rPr lang="de-DE">
                          <a:latin typeface="Arial" panose="020B0604020202020204" pitchFamily="34" charset="0"/>
                        </a:rPr>
                        <a:t>13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latin typeface="Arial" panose="020B0604020202020204" pitchFamily="34" charset="0"/>
                        </a:rPr>
                        <a:t>-0,540568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1,45172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88525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r>
                        <a:rPr lang="de-DE">
                          <a:latin typeface="Arial" panose="020B0604020202020204" pitchFamily="34" charset="0"/>
                        </a:rPr>
                        <a:t>14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latin typeface="Arial" panose="020B0604020202020204" pitchFamily="34" charset="0"/>
                        </a:rPr>
                        <a:t>-0,563357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1,05110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77532"/>
                  </a:ext>
                </a:extLst>
              </a:tr>
            </a:tbl>
          </a:graphicData>
        </a:graphic>
      </p:graphicFrame>
      <p:sp>
        <p:nvSpPr>
          <p:cNvPr id="47294" name="Rectangle 1214">
            <a:extLst>
              <a:ext uri="{FF2B5EF4-FFF2-40B4-BE49-F238E27FC236}">
                <a16:creationId xmlns:a16="http://schemas.microsoft.com/office/drawing/2014/main" id="{EDED2A4C-A39C-4A68-A835-74A3DA42B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375" y="5673725"/>
            <a:ext cx="204788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de-DE" altLang="de-DE" sz="600"/>
              <a:t> </a:t>
            </a:r>
            <a:endParaRPr lang="de-DE" altLang="de-DE"/>
          </a:p>
        </p:txBody>
      </p:sp>
      <p:graphicFrame>
        <p:nvGraphicFramePr>
          <p:cNvPr id="47550" name="Group 1470">
            <a:extLst>
              <a:ext uri="{FF2B5EF4-FFF2-40B4-BE49-F238E27FC236}">
                <a16:creationId xmlns:a16="http://schemas.microsoft.com/office/drawing/2014/main" id="{D1C6183D-A484-4010-8D72-F80D6427F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834522"/>
              </p:ext>
            </p:extLst>
          </p:nvPr>
        </p:nvGraphicFramePr>
        <p:xfrm>
          <a:off x="6240016" y="1278085"/>
          <a:ext cx="3887787" cy="3006090"/>
        </p:xfrm>
        <a:graphic>
          <a:graphicData uri="http://schemas.openxmlformats.org/drawingml/2006/table">
            <a:tbl>
              <a:tblPr/>
              <a:tblGrid>
                <a:gridCol w="1006475">
                  <a:extLst>
                    <a:ext uri="{9D8B030D-6E8A-4147-A177-3AD203B41FA5}">
                      <a16:colId xmlns:a16="http://schemas.microsoft.com/office/drawing/2014/main" val="3131660410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1424239342"/>
                    </a:ext>
                  </a:extLst>
                </a:gridCol>
                <a:gridCol w="1583531">
                  <a:extLst>
                    <a:ext uri="{9D8B030D-6E8A-4147-A177-3AD203B41FA5}">
                      <a16:colId xmlns:a16="http://schemas.microsoft.com/office/drawing/2014/main" val="2219066846"/>
                    </a:ext>
                  </a:extLst>
                </a:gridCol>
              </a:tblGrid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altLang="de-D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Faktor 1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altLang="de-DE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Faktor 2</a:t>
                      </a:r>
                      <a:endParaRPr kumimoji="0" lang="de-DE" alt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798875"/>
                  </a:ext>
                </a:extLst>
              </a:tr>
              <a:tr h="220663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</a:rPr>
                        <a:t>15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-0,545285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0,68272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005353"/>
                  </a:ext>
                </a:extLst>
              </a:tr>
              <a:tr h="220663">
                <a:tc>
                  <a:txBody>
                    <a:bodyPr/>
                    <a:lstStyle/>
                    <a:p>
                      <a:r>
                        <a:rPr lang="de-DE">
                          <a:latin typeface="Arial" panose="020B0604020202020204" pitchFamily="34" charset="0"/>
                        </a:rPr>
                        <a:t>16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-0,516192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0,37040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729645"/>
                  </a:ext>
                </a:extLst>
              </a:tr>
              <a:tr h="220663">
                <a:tc>
                  <a:txBody>
                    <a:bodyPr/>
                    <a:lstStyle/>
                    <a:p>
                      <a:r>
                        <a:rPr lang="de-DE">
                          <a:latin typeface="Arial" panose="020B0604020202020204" pitchFamily="34" charset="0"/>
                        </a:rPr>
                        <a:t>17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latin typeface="Arial" panose="020B0604020202020204" pitchFamily="34" charset="0"/>
                        </a:rPr>
                        <a:t>-0,502374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0,12233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570486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r>
                        <a:rPr lang="de-DE">
                          <a:latin typeface="Arial" panose="020B0604020202020204" pitchFamily="34" charset="0"/>
                        </a:rPr>
                        <a:t>18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latin typeface="Arial" panose="020B0604020202020204" pitchFamily="34" charset="0"/>
                        </a:rPr>
                        <a:t>-0,515707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-0,06591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074959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r>
                        <a:rPr lang="de-DE">
                          <a:latin typeface="Arial" panose="020B0604020202020204" pitchFamily="34" charset="0"/>
                        </a:rPr>
                        <a:t>19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latin typeface="Arial" panose="020B0604020202020204" pitchFamily="34" charset="0"/>
                        </a:rPr>
                        <a:t>-0,511272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-0,22597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58003"/>
                  </a:ext>
                </a:extLst>
              </a:tr>
              <a:tr h="220663">
                <a:tc>
                  <a:txBody>
                    <a:bodyPr/>
                    <a:lstStyle/>
                    <a:p>
                      <a:r>
                        <a:rPr lang="de-DE">
                          <a:latin typeface="Arial" panose="020B0604020202020204" pitchFamily="34" charset="0"/>
                        </a:rPr>
                        <a:t>20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latin typeface="Arial" panose="020B0604020202020204" pitchFamily="34" charset="0"/>
                        </a:rPr>
                        <a:t>-0,504758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-0,35424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43699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r>
                        <a:rPr lang="de-DE">
                          <a:latin typeface="Arial" panose="020B0604020202020204" pitchFamily="34" charset="0"/>
                        </a:rPr>
                        <a:t>21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latin typeface="Arial" panose="020B0604020202020204" pitchFamily="34" charset="0"/>
                        </a:rPr>
                        <a:t>-0,549768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-0,44863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012227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r>
                        <a:rPr lang="de-DE">
                          <a:latin typeface="Arial" panose="020B0604020202020204" pitchFamily="34" charset="0"/>
                        </a:rPr>
                        <a:t>22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latin typeface="Arial" panose="020B0604020202020204" pitchFamily="34" charset="0"/>
                        </a:rPr>
                        <a:t>-0,539097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-0,54024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555833"/>
                  </a:ext>
                </a:extLst>
              </a:tr>
              <a:tr h="222250">
                <a:tc>
                  <a:txBody>
                    <a:bodyPr/>
                    <a:lstStyle/>
                    <a:p>
                      <a:r>
                        <a:rPr lang="de-DE">
                          <a:latin typeface="Arial" panose="020B0604020202020204" pitchFamily="34" charset="0"/>
                        </a:rPr>
                        <a:t>23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latin typeface="Arial" panose="020B0604020202020204" pitchFamily="34" charset="0"/>
                        </a:rPr>
                        <a:t>-0,538184</a:t>
                      </a:r>
                      <a:endParaRPr lang="de-DE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>
                          <a:latin typeface="Arial" panose="020B0604020202020204" pitchFamily="34" charset="0"/>
                        </a:rPr>
                        <a:t>-0,61363</a:t>
                      </a:r>
                      <a:endParaRPr lang="de-DE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16836"/>
                  </a:ext>
                </a:extLst>
              </a:tr>
            </a:tbl>
          </a:graphicData>
        </a:graphic>
      </p:graphicFrame>
      <p:sp>
        <p:nvSpPr>
          <p:cNvPr id="47546" name="Rectangle 1466">
            <a:extLst>
              <a:ext uri="{FF2B5EF4-FFF2-40B4-BE49-F238E27FC236}">
                <a16:creationId xmlns:a16="http://schemas.microsoft.com/office/drawing/2014/main" id="{B668C164-2CAC-48E2-8D29-0C47F53F8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375" y="5184775"/>
            <a:ext cx="204788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de-DE" altLang="de-DE" sz="600"/>
              <a:t> </a:t>
            </a:r>
            <a:endParaRPr lang="de-DE" alt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278CD0B-FB4B-434B-8DC9-77E9AB68B868}"/>
              </a:ext>
            </a:extLst>
          </p:cNvPr>
          <p:cNvSpPr txBox="1"/>
          <p:nvPr/>
        </p:nvSpPr>
        <p:spPr>
          <a:xfrm>
            <a:off x="6528048" y="4653136"/>
            <a:ext cx="834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usw.....</a:t>
            </a:r>
          </a:p>
        </p:txBody>
      </p:sp>
    </p:spTree>
    <p:extLst>
      <p:ext uri="{BB962C8B-B14F-4D97-AF65-F5344CB8AC3E}">
        <p14:creationId xmlns:p14="http://schemas.microsoft.com/office/powerpoint/2010/main" val="985335550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1279</Words>
  <Application>Microsoft Office PowerPoint</Application>
  <PresentationFormat>Breitbild</PresentationFormat>
  <Paragraphs>698</Paragraphs>
  <Slides>24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2</vt:i4>
      </vt:variant>
      <vt:variant>
        <vt:lpstr>Folientitel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Standarddesign</vt:lpstr>
      <vt:lpstr>Grafik</vt:lpstr>
      <vt:lpstr>Formel</vt:lpstr>
      <vt:lpstr>9. Faktoranalyse</vt:lpstr>
      <vt:lpstr>Faktoranalyse </vt:lpstr>
      <vt:lpstr>Faktoranalyse </vt:lpstr>
      <vt:lpstr>Faktoranalyse </vt:lpstr>
      <vt:lpstr>Faktoranalyse </vt:lpstr>
      <vt:lpstr>Faktoranalyse </vt:lpstr>
      <vt:lpstr>Faktoranalyse </vt:lpstr>
      <vt:lpstr>Faktoranalyse </vt:lpstr>
      <vt:lpstr>Faktoranalyse - Hauptkomponentenanalyse </vt:lpstr>
      <vt:lpstr>Faktoranalyse - Hauptkomponentenanalyse </vt:lpstr>
      <vt:lpstr>Faktoranalyse - Hauptkomponentenanalyse </vt:lpstr>
      <vt:lpstr>Faktoranalyse - Rotationen </vt:lpstr>
      <vt:lpstr>Faktoranalyse - Beispiel </vt:lpstr>
      <vt:lpstr>Faktoranalyse - Beispiel </vt:lpstr>
      <vt:lpstr>Faktoranalyse - Beispiel </vt:lpstr>
      <vt:lpstr>Berechnung der Faktor-Scores</vt:lpstr>
      <vt:lpstr>Faktoranalyse Beispiel Chromatogramm</vt:lpstr>
      <vt:lpstr>Faktoranalyse Beispiel Chromatogramm – Faktorladungsmatrix original</vt:lpstr>
      <vt:lpstr>Faktoranalyse Beispiel Chromatogramm – Faktorladungsmatrix original</vt:lpstr>
      <vt:lpstr>Faktoranalyse Beispiel Chromatogramm – Faktorladungsmatrix original</vt:lpstr>
      <vt:lpstr>Faktoranalyse Beispiel Chromatogramm – Faktorladungsmatrix original</vt:lpstr>
      <vt:lpstr>Faktoranalyse Beispiel Chromatogramm – Faktorladungsmatrix nach Varimax</vt:lpstr>
      <vt:lpstr>Faktoranalyse Beispiel Chromatogramm – Koeffizienten der Faktorwerte</vt:lpstr>
      <vt:lpstr>Faktoranalyse Beispiel Chromatogramm – Faktorscores</vt:lpstr>
    </vt:vector>
  </TitlesOfParts>
  <Company>HS Merseburg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Diskriminanzanalyse </dc:title>
  <dc:creator>Fachbereich IKS</dc:creator>
  <cp:lastModifiedBy>Eckhard Liebscher</cp:lastModifiedBy>
  <cp:revision>72</cp:revision>
  <dcterms:created xsi:type="dcterms:W3CDTF">2009-01-08T11:25:54Z</dcterms:created>
  <dcterms:modified xsi:type="dcterms:W3CDTF">2024-06-18T07:50:47Z</dcterms:modified>
</cp:coreProperties>
</file>